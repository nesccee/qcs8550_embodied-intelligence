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2926080" cy="347472"/>
          </a:xfrm>
          <a:prstGeom prst="roundRect">
            <a:avLst/>
          </a:prstGeom>
          <a:solidFill>
            <a:srgbClr val="DBEAFE"/>
          </a:solidFill>
          <a:ln>
            <a:solidFill>
              <a:srgbClr val="0E7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D4ED8"/>
                </a:solidFill>
              </a:defRPr>
            </a:pPr>
            <a:r>
              <a:t>IEEE T-RO / RA-L ARTIFACT</a:t>
            </a:r>
          </a:p>
        </p:txBody>
      </p:sp>
      <p:sp>
        <p:nvSpPr>
          <p:cNvPr id="4" name="TextBox 3"/>
          <p:cNvSpPr txBox="1"/>
          <p:nvPr/>
        </p:nvSpPr>
        <p:spPr>
          <a:xfrm>
            <a:off x="731520" y="1280160"/>
            <a:ext cx="10698480" cy="1828800"/>
          </a:xfrm>
          <a:prstGeom prst="rect">
            <a:avLst/>
          </a:prstGeom>
          <a:noFill/>
        </p:spPr>
        <p:txBody>
          <a:bodyPr wrap="square">
            <a:spAutoFit/>
          </a:bodyPr>
          <a:lstStyle/>
          <a:p>
            <a:pPr>
              <a:spcAft>
                <a:spcPts val="1000"/>
              </a:spcAft>
              <a:defRPr sz="2800" b="1">
                <a:solidFill>
                  <a:srgbClr val="1D4ED8"/>
                </a:solidFill>
                <a:latin typeface="Arial"/>
              </a:defRPr>
            </a:pPr>
            <a:r>
              <a:t>面向复杂室内环境的自主移动机器人</a:t>
            </a:r>
            <a:br/>
            <a:r>
              <a:t>退化自适应多传感器融合 SLAM 与语义动态导航</a:t>
            </a:r>
          </a:p>
          <a:p>
            <a:pPr>
              <a:spcAft>
                <a:spcPts val="1600"/>
              </a:spcAft>
              <a:defRPr sz="1400">
                <a:solidFill>
                  <a:srgbClr val="64748B"/>
                </a:solidFill>
              </a:defRPr>
            </a:pPr>
            <a:r>
              <a:t>Adaptive Degeneracy-Aware Multi-Sensor Fusion SLAM &amp; Semantic Dynamic Navigation for AMRs</a:t>
            </a:r>
          </a:p>
          <a:p>
            <a:pPr>
              <a:defRPr sz="1200" b="1">
                <a:solidFill>
                  <a:srgbClr val="0F1E41"/>
                </a:solidFill>
              </a:defRPr>
            </a:pPr>
            <a:r>
              <a:t>汇报人：智能机器人系统联合攻关团队   |   指导机构：机器人学与自主系统实验室</a:t>
            </a:r>
          </a:p>
        </p:txBody>
      </p:sp>
      <p:sp>
        <p:nvSpPr>
          <p:cNvPr id="5" name="Rounded Rectangle 4"/>
          <p:cNvSpPr/>
          <p:nvPr/>
        </p:nvSpPr>
        <p:spPr>
          <a:xfrm>
            <a:off x="731520" y="4297680"/>
            <a:ext cx="3383280" cy="1645920"/>
          </a:xfrm>
          <a:prstGeom prst="roundRect">
            <a:avLst/>
          </a:prstGeom>
          <a:solidFill>
            <a:srgbClr val="FFFFFF"/>
          </a:solidFill>
          <a:ln w="19050">
            <a:solidFill>
              <a:srgbClr val="0E74DE"/>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spcAft>
                <a:spcPts val="400"/>
              </a:spcAft>
              <a:defRPr sz="1200" b="1">
                <a:solidFill>
                  <a:srgbClr val="0E74DE"/>
                </a:solidFill>
              </a:defRPr>
            </a:pPr>
            <a:r>
              <a:t>100m 终点累积漂移</a:t>
            </a:r>
          </a:p>
          <a:p>
            <a:pPr>
              <a:spcAft>
                <a:spcPts val="400"/>
              </a:spcAft>
              <a:defRPr sz="2400" b="1">
                <a:solidFill>
                  <a:srgbClr val="0F1E41"/>
                </a:solidFill>
              </a:defRPr>
            </a:pPr>
            <a:r>
              <a:t>2.14 cm</a:t>
            </a:r>
          </a:p>
          <a:p>
            <a:pPr>
              <a:defRPr sz="1000">
                <a:solidFill>
                  <a:srgbClr val="64748B"/>
                </a:solidFill>
              </a:defRPr>
            </a:pPr>
            <a:r>
              <a:t>指标要求 &lt; 10 cm (达成超预期)</a:t>
            </a:r>
          </a:p>
        </p:txBody>
      </p:sp>
      <p:sp>
        <p:nvSpPr>
          <p:cNvPr id="6" name="Rounded Rectangle 5"/>
          <p:cNvSpPr/>
          <p:nvPr/>
        </p:nvSpPr>
        <p:spPr>
          <a:xfrm>
            <a:off x="4389120" y="4297680"/>
            <a:ext cx="3383280" cy="164592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spcAft>
                <a:spcPts val="400"/>
              </a:spcAft>
              <a:defRPr sz="1200" b="1">
                <a:solidFill>
                  <a:srgbClr val="0D9488"/>
                </a:solidFill>
              </a:defRPr>
            </a:pPr>
            <a:r>
              <a:t>动态拖影消除率</a:t>
            </a:r>
          </a:p>
          <a:p>
            <a:pPr>
              <a:spcAft>
                <a:spcPts val="400"/>
              </a:spcAft>
              <a:defRPr sz="2400" b="1">
                <a:solidFill>
                  <a:srgbClr val="0F1E41"/>
                </a:solidFill>
              </a:defRPr>
            </a:pPr>
            <a:r>
              <a:t>97.95%</a:t>
            </a:r>
          </a:p>
          <a:p>
            <a:pPr>
              <a:defRPr sz="1000">
                <a:solidFill>
                  <a:srgbClr val="64748B"/>
                </a:solidFill>
              </a:defRPr>
            </a:pPr>
            <a:r>
              <a:t>背景墙体保留率 99.4%</a:t>
            </a:r>
          </a:p>
        </p:txBody>
      </p:sp>
      <p:sp>
        <p:nvSpPr>
          <p:cNvPr id="7" name="Rounded Rectangle 6"/>
          <p:cNvSpPr/>
          <p:nvPr/>
        </p:nvSpPr>
        <p:spPr>
          <a:xfrm>
            <a:off x="8046720" y="4297680"/>
            <a:ext cx="3383280" cy="16459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spcAft>
                <a:spcPts val="400"/>
              </a:spcAft>
              <a:defRPr sz="1200" b="1">
                <a:solidFill>
                  <a:srgbClr val="D97706"/>
                </a:solidFill>
              </a:defRPr>
            </a:pPr>
            <a:r>
              <a:t>动态穿行效率提升</a:t>
            </a:r>
          </a:p>
          <a:p>
            <a:pPr>
              <a:spcAft>
                <a:spcPts val="400"/>
              </a:spcAft>
              <a:defRPr sz="2400" b="1">
                <a:solidFill>
                  <a:srgbClr val="0F1E41"/>
                </a:solidFill>
              </a:defRPr>
            </a:pPr>
            <a:r>
              <a:t>+36.3%</a:t>
            </a:r>
          </a:p>
          <a:p>
            <a:pPr>
              <a:defRPr sz="1000">
                <a:solidFill>
                  <a:srgbClr val="64748B"/>
                </a:solidFill>
              </a:defRPr>
            </a:pPr>
            <a:r>
              <a:t>重规划平均延迟 &lt; 20 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E7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7472"/>
            <a:ext cx="8961120" cy="731520"/>
          </a:xfrm>
          <a:prstGeom prst="rect">
            <a:avLst/>
          </a:prstGeom>
          <a:noFill/>
        </p:spPr>
        <p:txBody>
          <a:bodyPr wrap="square" lIns="0" tIns="0" rIns="0" bIns="0">
            <a:spAutoFit/>
          </a:bodyPr>
          <a:lstStyle/>
          <a:p>
            <a:pPr>
              <a:defRPr sz="2100" b="1">
                <a:solidFill>
                  <a:srgbClr val="0F1E41"/>
                </a:solidFill>
                <a:latin typeface="Arial"/>
              </a:defRPr>
            </a:pPr>
            <a:r>
              <a:t>1. 研究背景与三大核心科学问题</a:t>
            </a:r>
          </a:p>
        </p:txBody>
      </p:sp>
      <p:sp>
        <p:nvSpPr>
          <p:cNvPr id="5" name="Rounded Rectangle 4"/>
          <p:cNvSpPr/>
          <p:nvPr/>
        </p:nvSpPr>
        <p:spPr>
          <a:xfrm>
            <a:off x="9326880" y="402336"/>
            <a:ext cx="2103120" cy="329184"/>
          </a:xfrm>
          <a:prstGeom prst="roundRect">
            <a:avLst/>
          </a:prstGeom>
          <a:solidFill>
            <a:srgbClr val="DBEAFE"/>
          </a:solidFill>
          <a:ln w="12700">
            <a:solidFill>
              <a:srgbClr val="0E7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D4ED8"/>
                </a:solidFill>
                <a:latin typeface="Arial"/>
              </a:defRPr>
            </a:pPr>
            <a:r>
              <a:t>Background &amp; Motivation</a:t>
            </a:r>
          </a:p>
        </p:txBody>
      </p:sp>
      <p:sp>
        <p:nvSpPr>
          <p:cNvPr id="6" name="TextBox 5"/>
          <p:cNvSpPr txBox="1"/>
          <p:nvPr/>
        </p:nvSpPr>
        <p:spPr>
          <a:xfrm>
            <a:off x="10515600" y="6400800"/>
            <a:ext cx="1097280" cy="320040"/>
          </a:xfrm>
          <a:prstGeom prst="rect">
            <a:avLst/>
          </a:prstGeom>
          <a:noFill/>
        </p:spPr>
        <p:txBody>
          <a:bodyPr wrap="none">
            <a:spAutoFit/>
          </a:bodyPr>
          <a:lstStyle/>
          <a:p>
            <a:pPr algn="r">
              <a:defRPr sz="1100">
                <a:solidFill>
                  <a:srgbClr val="64748B"/>
                </a:solidFill>
              </a:defRPr>
            </a:pPr>
            <a:r>
              <a:t>2 / 11</a:t>
            </a:r>
          </a:p>
        </p:txBody>
      </p:sp>
      <p:sp>
        <p:nvSpPr>
          <p:cNvPr id="7" name="TextBox 6"/>
          <p:cNvSpPr txBox="1"/>
          <p:nvPr/>
        </p:nvSpPr>
        <p:spPr>
          <a:xfrm>
            <a:off x="731520" y="1051560"/>
            <a:ext cx="10698480" cy="640080"/>
          </a:xfrm>
          <a:prstGeom prst="rect">
            <a:avLst/>
          </a:prstGeom>
          <a:noFill/>
        </p:spPr>
        <p:txBody>
          <a:bodyPr wrap="square">
            <a:spAutoFit/>
          </a:bodyPr>
          <a:lstStyle/>
          <a:p>
            <a:pPr>
              <a:defRPr sz="1200">
                <a:solidFill>
                  <a:srgbClr val="1E293B"/>
                </a:solidFill>
              </a:defRPr>
            </a:pPr>
            <a:r>
              <a:t>自主移动机器人 (AMR) 深入仓储物流、医院、科研实验室等高动态人机共融场景，面临三大共性瓶颈难题：</a:t>
            </a:r>
          </a:p>
        </p:txBody>
      </p:sp>
      <p:sp>
        <p:nvSpPr>
          <p:cNvPr id="8" name="Rounded Rectangle 7"/>
          <p:cNvSpPr/>
          <p:nvPr/>
        </p:nvSpPr>
        <p:spPr>
          <a:xfrm>
            <a:off x="731520" y="1737360"/>
            <a:ext cx="3383280" cy="338328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883664"/>
            <a:ext cx="2980944" cy="3090672"/>
          </a:xfrm>
          <a:prstGeom prst="rect">
            <a:avLst/>
          </a:prstGeom>
          <a:noFill/>
        </p:spPr>
        <p:txBody>
          <a:bodyPr wrap="square" lIns="0" tIns="0" rIns="0" bIns="0">
            <a:spAutoFit/>
          </a:bodyPr>
          <a:lstStyle/>
          <a:p>
            <a:pPr>
              <a:spcAft>
                <a:spcPts val="700"/>
              </a:spcAft>
              <a:defRPr sz="1300" b="1">
                <a:solidFill>
                  <a:srgbClr val="1D4ED8"/>
                </a:solidFill>
                <a:latin typeface="Arial"/>
              </a:defRPr>
            </a:pPr>
            <a:r>
              <a:t>⚠️ 走廊退化致纵向滑移</a:t>
            </a:r>
          </a:p>
          <a:p>
            <a:pPr>
              <a:spcAft>
                <a:spcPts val="400"/>
              </a:spcAft>
              <a:defRPr sz="1100">
                <a:solidFill>
                  <a:srgbClr val="1E293B"/>
                </a:solidFill>
                <a:latin typeface="Arial"/>
              </a:defRPr>
            </a:pPr>
            <a:r>
              <a:t>• 长直走廊与低纹理房间缺乏法向几何特征</a:t>
            </a:r>
          </a:p>
          <a:p>
            <a:pPr>
              <a:spcAft>
                <a:spcPts val="400"/>
              </a:spcAft>
              <a:defRPr sz="1100">
                <a:solidFill>
                  <a:srgbClr val="1E293B"/>
                </a:solidFill>
                <a:latin typeface="Arial"/>
              </a:defRPr>
            </a:pPr>
            <a:r>
              <a:t>• 雅可比信息矩阵 J^T J 严重秩亏（特征值极小）</a:t>
            </a:r>
          </a:p>
          <a:p>
            <a:pPr>
              <a:spcAft>
                <a:spcPts val="400"/>
              </a:spcAft>
              <a:defRPr sz="1100">
                <a:solidFill>
                  <a:srgbClr val="1E293B"/>
                </a:solidFill>
                <a:latin typeface="Arial"/>
              </a:defRPr>
            </a:pPr>
            <a:r>
              <a:t>• 经典 LIO-SAM 产生纵向严重滑移与累计漂移</a:t>
            </a:r>
          </a:p>
        </p:txBody>
      </p:sp>
      <p:sp>
        <p:nvSpPr>
          <p:cNvPr id="10" name="Rounded Rectangle 9"/>
          <p:cNvSpPr/>
          <p:nvPr/>
        </p:nvSpPr>
        <p:spPr>
          <a:xfrm>
            <a:off x="4389120" y="1737360"/>
            <a:ext cx="3383280" cy="338328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1883664"/>
            <a:ext cx="2980944" cy="3090672"/>
          </a:xfrm>
          <a:prstGeom prst="rect">
            <a:avLst/>
          </a:prstGeom>
          <a:noFill/>
        </p:spPr>
        <p:txBody>
          <a:bodyPr wrap="square" lIns="0" tIns="0" rIns="0" bIns="0">
            <a:spAutoFit/>
          </a:bodyPr>
          <a:lstStyle/>
          <a:p>
            <a:pPr>
              <a:spcAft>
                <a:spcPts val="700"/>
              </a:spcAft>
              <a:defRPr sz="1300" b="1">
                <a:solidFill>
                  <a:srgbClr val="1D4ED8"/>
                </a:solidFill>
                <a:latin typeface="Arial"/>
              </a:defRPr>
            </a:pPr>
            <a:r>
              <a:t>👻 动态行人穿行产生拖影</a:t>
            </a:r>
          </a:p>
          <a:p>
            <a:pPr>
              <a:spcAft>
                <a:spcPts val="400"/>
              </a:spcAft>
              <a:defRPr sz="1100">
                <a:solidFill>
                  <a:srgbClr val="1E293B"/>
                </a:solidFill>
                <a:latin typeface="Arial"/>
              </a:defRPr>
            </a:pPr>
            <a:r>
              <a:t>• 行走中的行人在激光点云中留下大量假阳性拖影</a:t>
            </a:r>
          </a:p>
          <a:p>
            <a:pPr>
              <a:spcAft>
                <a:spcPts val="400"/>
              </a:spcAft>
              <a:defRPr sz="1100">
                <a:solidFill>
                  <a:srgbClr val="1E293B"/>
                </a:solidFill>
                <a:latin typeface="Arial"/>
              </a:defRPr>
            </a:pPr>
            <a:r>
              <a:t>• 传统 2D 框直接挖除会大面积凿穿后方静态墙体</a:t>
            </a:r>
          </a:p>
          <a:p>
            <a:pPr>
              <a:spcAft>
                <a:spcPts val="400"/>
              </a:spcAft>
              <a:defRPr sz="1100">
                <a:solidFill>
                  <a:srgbClr val="1E293B"/>
                </a:solidFill>
                <a:latin typeface="Arial"/>
              </a:defRPr>
            </a:pPr>
            <a:r>
              <a:t>• 破坏地图连续性，阻断下游自主导航可行区域</a:t>
            </a:r>
          </a:p>
        </p:txBody>
      </p:sp>
      <p:sp>
        <p:nvSpPr>
          <p:cNvPr id="12" name="Rounded Rectangle 11"/>
          <p:cNvSpPr/>
          <p:nvPr/>
        </p:nvSpPr>
        <p:spPr>
          <a:xfrm>
            <a:off x="8046720" y="1737360"/>
            <a:ext cx="3383280" cy="338328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7888" y="1883664"/>
            <a:ext cx="2980944" cy="3090672"/>
          </a:xfrm>
          <a:prstGeom prst="rect">
            <a:avLst/>
          </a:prstGeom>
          <a:noFill/>
        </p:spPr>
        <p:txBody>
          <a:bodyPr wrap="square" lIns="0" tIns="0" rIns="0" bIns="0">
            <a:spAutoFit/>
          </a:bodyPr>
          <a:lstStyle/>
          <a:p>
            <a:pPr>
              <a:spcAft>
                <a:spcPts val="700"/>
              </a:spcAft>
              <a:defRPr sz="1300" b="1">
                <a:solidFill>
                  <a:srgbClr val="1D4ED8"/>
                </a:solidFill>
                <a:latin typeface="Arial"/>
              </a:defRPr>
            </a:pPr>
            <a:r>
              <a:t>🛑 传统代价地图过度保守</a:t>
            </a:r>
          </a:p>
          <a:p>
            <a:pPr>
              <a:spcAft>
                <a:spcPts val="400"/>
              </a:spcAft>
              <a:defRPr sz="1100">
                <a:solidFill>
                  <a:srgbClr val="1E293B"/>
                </a:solidFill>
                <a:latin typeface="Arial"/>
              </a:defRPr>
            </a:pPr>
            <a:r>
              <a:t>• 传统局部代价地图将行人对称向外膨胀</a:t>
            </a:r>
          </a:p>
          <a:p>
            <a:pPr>
              <a:spcAft>
                <a:spcPts val="400"/>
              </a:spcAft>
              <a:defRPr sz="1100">
                <a:solidFill>
                  <a:srgbClr val="1E293B"/>
                </a:solidFill>
                <a:latin typeface="Arial"/>
              </a:defRPr>
            </a:pPr>
            <a:r>
              <a:t>• 盲目封死行人后方可通行空旷区域</a:t>
            </a:r>
          </a:p>
          <a:p>
            <a:pPr>
              <a:spcAft>
                <a:spcPts val="400"/>
              </a:spcAft>
              <a:defRPr sz="1100">
                <a:solidFill>
                  <a:srgbClr val="1E293B"/>
                </a:solidFill>
                <a:latin typeface="Arial"/>
              </a:defRPr>
            </a:pPr>
            <a:r>
              <a:t>• 导致 AMR 在人流中频繁出现急停、避让与死锁</a:t>
            </a:r>
          </a:p>
        </p:txBody>
      </p:sp>
      <p:sp>
        <p:nvSpPr>
          <p:cNvPr id="14" name="Rounded Rectangle 13"/>
          <p:cNvSpPr/>
          <p:nvPr/>
        </p:nvSpPr>
        <p:spPr>
          <a:xfrm>
            <a:off x="731520" y="5303520"/>
            <a:ext cx="10698480" cy="914400"/>
          </a:xfrm>
          <a:prstGeom prst="roundRect">
            <a:avLst/>
          </a:prstGeom>
          <a:solidFill>
            <a:srgbClr val="E0EFFF"/>
          </a:solidFill>
          <a:ln w="12700">
            <a:solidFill>
              <a:srgbClr val="0E7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5449824"/>
            <a:ext cx="10296144" cy="621792"/>
          </a:xfrm>
          <a:prstGeom prst="rect">
            <a:avLst/>
          </a:prstGeom>
          <a:noFill/>
        </p:spPr>
        <p:txBody>
          <a:bodyPr wrap="square" lIns="0" tIns="0" rIns="0" bIns="0">
            <a:spAutoFit/>
          </a:bodyPr>
          <a:lstStyle/>
          <a:p>
            <a:pPr>
              <a:spcAft>
                <a:spcPts val="700"/>
              </a:spcAft>
              <a:defRPr sz="1300" b="1">
                <a:solidFill>
                  <a:srgbClr val="1D4ED8"/>
                </a:solidFill>
                <a:latin typeface="Arial"/>
              </a:defRPr>
            </a:pPr>
            <a:r>
              <a:t>🎯 攻关目标：</a:t>
            </a:r>
          </a:p>
          <a:p>
            <a:pPr>
              <a:spcAft>
                <a:spcPts val="400"/>
              </a:spcAft>
              <a:defRPr sz="1100">
                <a:solidFill>
                  <a:srgbClr val="1E293B"/>
                </a:solidFill>
                <a:latin typeface="Arial"/>
              </a:defRPr>
            </a:pPr>
            <a:r>
              <a:t>构建紧耦合自适应退化感知因子图 SLAM、跨域语义 Depth-PROSAC 滤波与非对称速度矢量闭环导航系统。</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E7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7472"/>
            <a:ext cx="8961120" cy="731520"/>
          </a:xfrm>
          <a:prstGeom prst="rect">
            <a:avLst/>
          </a:prstGeom>
          <a:noFill/>
        </p:spPr>
        <p:txBody>
          <a:bodyPr wrap="square" lIns="0" tIns="0" rIns="0" bIns="0">
            <a:spAutoFit/>
          </a:bodyPr>
          <a:lstStyle/>
          <a:p>
            <a:pPr>
              <a:defRPr sz="2100" b="1">
                <a:solidFill>
                  <a:srgbClr val="0F1E41"/>
                </a:solidFill>
                <a:latin typeface="Arial"/>
              </a:defRPr>
            </a:pPr>
            <a:r>
              <a:t>2. 系统总体技术架构设计</a:t>
            </a:r>
          </a:p>
        </p:txBody>
      </p:sp>
      <p:sp>
        <p:nvSpPr>
          <p:cNvPr id="5" name="Rounded Rectangle 4"/>
          <p:cNvSpPr/>
          <p:nvPr/>
        </p:nvSpPr>
        <p:spPr>
          <a:xfrm>
            <a:off x="9326880" y="402336"/>
            <a:ext cx="2103120" cy="329184"/>
          </a:xfrm>
          <a:prstGeom prst="roundRect">
            <a:avLst/>
          </a:prstGeom>
          <a:solidFill>
            <a:srgbClr val="DBEAFE"/>
          </a:solidFill>
          <a:ln w="12700">
            <a:solidFill>
              <a:srgbClr val="0E7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D4ED8"/>
                </a:solidFill>
                <a:latin typeface="Arial"/>
              </a:defRPr>
            </a:pPr>
            <a:r>
              <a:t>System Architecture</a:t>
            </a:r>
          </a:p>
        </p:txBody>
      </p:sp>
      <p:sp>
        <p:nvSpPr>
          <p:cNvPr id="6" name="TextBox 5"/>
          <p:cNvSpPr txBox="1"/>
          <p:nvPr/>
        </p:nvSpPr>
        <p:spPr>
          <a:xfrm>
            <a:off x="10515600" y="6400800"/>
            <a:ext cx="1097280" cy="320040"/>
          </a:xfrm>
          <a:prstGeom prst="rect">
            <a:avLst/>
          </a:prstGeom>
          <a:noFill/>
        </p:spPr>
        <p:txBody>
          <a:bodyPr wrap="none">
            <a:spAutoFit/>
          </a:bodyPr>
          <a:lstStyle/>
          <a:p>
            <a:pPr algn="r">
              <a:defRPr sz="1100">
                <a:solidFill>
                  <a:srgbClr val="64748B"/>
                </a:solidFill>
              </a:defRPr>
            </a:pPr>
            <a:r>
              <a:t>3 / 11</a:t>
            </a:r>
          </a:p>
        </p:txBody>
      </p:sp>
      <p:pic>
        <p:nvPicPr>
          <p:cNvPr id="7" name="Picture 6" descr="fig_system_architecture.png"/>
          <p:cNvPicPr>
            <a:picLocks noChangeAspect="1"/>
          </p:cNvPicPr>
          <p:nvPr/>
        </p:nvPicPr>
        <p:blipFill>
          <a:blip r:embed="rId2"/>
          <a:stretch>
            <a:fillRect/>
          </a:stretch>
        </p:blipFill>
        <p:spPr>
          <a:xfrm>
            <a:off x="731520" y="1143000"/>
            <a:ext cx="10698480" cy="5052060"/>
          </a:xfrm>
          <a:prstGeom prst="rect">
            <a:avLst/>
          </a:prstGeom>
        </p:spPr>
      </p:pic>
      <p:sp>
        <p:nvSpPr>
          <p:cNvPr id="8" name="Rounded Rectangle 7"/>
          <p:cNvSpPr/>
          <p:nvPr/>
        </p:nvSpPr>
        <p:spPr>
          <a:xfrm>
            <a:off x="731520" y="5029200"/>
            <a:ext cx="5212080" cy="137160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5175504"/>
            <a:ext cx="4809744" cy="1078992"/>
          </a:xfrm>
          <a:prstGeom prst="rect">
            <a:avLst/>
          </a:prstGeom>
          <a:noFill/>
        </p:spPr>
        <p:txBody>
          <a:bodyPr wrap="square" lIns="0" tIns="0" rIns="0" bIns="0">
            <a:spAutoFit/>
          </a:bodyPr>
          <a:lstStyle/>
          <a:p>
            <a:pPr>
              <a:spcAft>
                <a:spcPts val="700"/>
              </a:spcAft>
              <a:defRPr sz="1300" b="1">
                <a:solidFill>
                  <a:srgbClr val="1D4ED8"/>
                </a:solidFill>
                <a:latin typeface="Arial"/>
              </a:defRPr>
            </a:pPr>
            <a:r>
              <a:t>底层感知与因子图状态估计层</a:t>
            </a:r>
          </a:p>
          <a:p>
            <a:pPr>
              <a:spcAft>
                <a:spcPts val="400"/>
              </a:spcAft>
              <a:defRPr sz="1100">
                <a:solidFill>
                  <a:srgbClr val="1E293B"/>
                </a:solidFill>
                <a:latin typeface="Arial"/>
              </a:defRPr>
            </a:pPr>
            <a:r>
              <a:t>• 3D LiDAR + 200 Hz IMU 连续流形预积分刚性约束</a:t>
            </a:r>
          </a:p>
          <a:p>
            <a:pPr>
              <a:spcAft>
                <a:spcPts val="400"/>
              </a:spcAft>
              <a:defRPr sz="1100">
                <a:solidFill>
                  <a:srgbClr val="1E293B"/>
                </a:solidFill>
                <a:latin typeface="Arial"/>
              </a:defRPr>
            </a:pPr>
            <a:r>
              <a:t>• J^T J 实时特征值分解检测退化，动态自适应重调权</a:t>
            </a:r>
          </a:p>
        </p:txBody>
      </p:sp>
      <p:sp>
        <p:nvSpPr>
          <p:cNvPr id="10" name="Rounded Rectangle 9"/>
          <p:cNvSpPr/>
          <p:nvPr/>
        </p:nvSpPr>
        <p:spPr>
          <a:xfrm>
            <a:off x="6217920" y="5029200"/>
            <a:ext cx="5212080" cy="137160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9088" y="5175504"/>
            <a:ext cx="4809744" cy="1078992"/>
          </a:xfrm>
          <a:prstGeom prst="rect">
            <a:avLst/>
          </a:prstGeom>
          <a:noFill/>
        </p:spPr>
        <p:txBody>
          <a:bodyPr wrap="square" lIns="0" tIns="0" rIns="0" bIns="0">
            <a:spAutoFit/>
          </a:bodyPr>
          <a:lstStyle/>
          <a:p>
            <a:pPr>
              <a:spcAft>
                <a:spcPts val="700"/>
              </a:spcAft>
              <a:defRPr sz="1300" b="1">
                <a:solidFill>
                  <a:srgbClr val="1D4ED8"/>
                </a:solidFill>
                <a:latin typeface="Arial"/>
              </a:defRPr>
            </a:pPr>
            <a:r>
              <a:t>语义投影与非对称动态规划层</a:t>
            </a:r>
          </a:p>
          <a:p>
            <a:pPr>
              <a:spcAft>
                <a:spcPts val="400"/>
              </a:spcAft>
              <a:defRPr sz="1100">
                <a:solidFill>
                  <a:srgbClr val="1E293B"/>
                </a:solidFill>
                <a:latin typeface="Arial"/>
              </a:defRPr>
            </a:pPr>
            <a:r>
              <a:t>• YOLOv8/Mask R-CNN 跨域映射 + Depth-PROSAC 剔除动态重影</a:t>
            </a:r>
          </a:p>
          <a:p>
            <a:pPr>
              <a:spcAft>
                <a:spcPts val="400"/>
              </a:spcAft>
              <a:defRPr sz="1100">
                <a:solidFill>
                  <a:srgbClr val="1E293B"/>
                </a:solidFill>
                <a:latin typeface="Arial"/>
              </a:defRPr>
            </a:pPr>
            <a:r>
              <a:t>• 非对称速度矢量椭圆膨胀 + A* 拓扑寻径 + TEB 弹性带重规划</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E7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7472"/>
            <a:ext cx="8961120" cy="731520"/>
          </a:xfrm>
          <a:prstGeom prst="rect">
            <a:avLst/>
          </a:prstGeom>
          <a:noFill/>
        </p:spPr>
        <p:txBody>
          <a:bodyPr wrap="square" lIns="0" tIns="0" rIns="0" bIns="0">
            <a:spAutoFit/>
          </a:bodyPr>
          <a:lstStyle/>
          <a:p>
            <a:pPr>
              <a:defRPr sz="2100" b="1">
                <a:solidFill>
                  <a:srgbClr val="0F1E41"/>
                </a:solidFill>
                <a:latin typeface="Arial"/>
              </a:defRPr>
            </a:pPr>
            <a:r>
              <a:t>3. 创新点一：自适应退化感知与因子图重调权</a:t>
            </a:r>
          </a:p>
        </p:txBody>
      </p:sp>
      <p:sp>
        <p:nvSpPr>
          <p:cNvPr id="5" name="Rounded Rectangle 4"/>
          <p:cNvSpPr/>
          <p:nvPr/>
        </p:nvSpPr>
        <p:spPr>
          <a:xfrm>
            <a:off x="9326880" y="402336"/>
            <a:ext cx="2103120" cy="329184"/>
          </a:xfrm>
          <a:prstGeom prst="roundRect">
            <a:avLst/>
          </a:prstGeom>
          <a:solidFill>
            <a:srgbClr val="DBEAFE"/>
          </a:solidFill>
          <a:ln w="12700">
            <a:solidFill>
              <a:srgbClr val="0E7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D4ED8"/>
                </a:solidFill>
                <a:latin typeface="Arial"/>
              </a:defRPr>
            </a:pPr>
            <a:r>
              <a:t>Degeneracy SLAM</a:t>
            </a:r>
          </a:p>
        </p:txBody>
      </p:sp>
      <p:sp>
        <p:nvSpPr>
          <p:cNvPr id="6" name="TextBox 5"/>
          <p:cNvSpPr txBox="1"/>
          <p:nvPr/>
        </p:nvSpPr>
        <p:spPr>
          <a:xfrm>
            <a:off x="10515600" y="6400800"/>
            <a:ext cx="1097280" cy="320040"/>
          </a:xfrm>
          <a:prstGeom prst="rect">
            <a:avLst/>
          </a:prstGeom>
          <a:noFill/>
        </p:spPr>
        <p:txBody>
          <a:bodyPr wrap="none">
            <a:spAutoFit/>
          </a:bodyPr>
          <a:lstStyle/>
          <a:p>
            <a:pPr algn="r">
              <a:defRPr sz="1100">
                <a:solidFill>
                  <a:srgbClr val="64748B"/>
                </a:solidFill>
              </a:defRPr>
            </a:pPr>
            <a:r>
              <a:t>4 / 11</a:t>
            </a:r>
          </a:p>
        </p:txBody>
      </p:sp>
      <p:pic>
        <p:nvPicPr>
          <p:cNvPr id="7" name="Picture 6" descr="fig_factor_graph.png"/>
          <p:cNvPicPr>
            <a:picLocks noChangeAspect="1"/>
          </p:cNvPicPr>
          <p:nvPr/>
        </p:nvPicPr>
        <p:blipFill>
          <a:blip r:embed="rId2"/>
          <a:stretch>
            <a:fillRect/>
          </a:stretch>
        </p:blipFill>
        <p:spPr>
          <a:xfrm>
            <a:off x="731520" y="1143000"/>
            <a:ext cx="5669280" cy="2667896"/>
          </a:xfrm>
          <a:prstGeom prst="rect">
            <a:avLst/>
          </a:prstGeom>
        </p:spPr>
      </p:pic>
      <p:sp>
        <p:nvSpPr>
          <p:cNvPr id="8" name="Rounded Rectangle 7"/>
          <p:cNvSpPr/>
          <p:nvPr/>
        </p:nvSpPr>
        <p:spPr>
          <a:xfrm>
            <a:off x="6675120" y="1143000"/>
            <a:ext cx="4754880" cy="2103120"/>
          </a:xfrm>
          <a:prstGeom prst="roundRect">
            <a:avLst/>
          </a:prstGeom>
          <a:solidFill>
            <a:srgbClr val="E6F1FE"/>
          </a:solidFill>
          <a:ln w="12700">
            <a:solidFill>
              <a:srgbClr val="0E7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76288" y="1289304"/>
            <a:ext cx="4352544" cy="1810511"/>
          </a:xfrm>
          <a:prstGeom prst="rect">
            <a:avLst/>
          </a:prstGeom>
          <a:noFill/>
        </p:spPr>
        <p:txBody>
          <a:bodyPr wrap="square" lIns="0" tIns="0" rIns="0" bIns="0">
            <a:spAutoFit/>
          </a:bodyPr>
          <a:lstStyle/>
          <a:p>
            <a:pPr>
              <a:spcAft>
                <a:spcPts val="700"/>
              </a:spcAft>
              <a:defRPr sz="1300" b="1">
                <a:solidFill>
                  <a:srgbClr val="1D4ED8"/>
                </a:solidFill>
                <a:latin typeface="Arial"/>
              </a:defRPr>
            </a:pPr>
            <a:r>
              <a:t>特征值分解与自适应加权算子</a:t>
            </a:r>
          </a:p>
          <a:p>
            <a:pPr>
              <a:spcAft>
                <a:spcPts val="400"/>
              </a:spcAft>
              <a:defRPr sz="1100">
                <a:solidFill>
                  <a:srgbClr val="1E293B"/>
                </a:solidFill>
                <a:latin typeface="Arial"/>
              </a:defRPr>
            </a:pPr>
            <a:r>
              <a:t>H = Σ J_k^T J_k = V Λ V^T,   λ_min = min(λ_i)</a:t>
            </a:r>
          </a:p>
          <a:p>
            <a:pPr>
              <a:spcAft>
                <a:spcPts val="400"/>
              </a:spcAft>
              <a:defRPr sz="1100">
                <a:solidFill>
                  <a:srgbClr val="1E293B"/>
                </a:solidFill>
                <a:latin typeface="Arial"/>
              </a:defRPr>
            </a:pPr>
            <a:r>
              <a:t>w_L = clamp(λ_min / λ_thresh, 0.10, 1.0)</a:t>
            </a:r>
          </a:p>
          <a:p>
            <a:pPr>
              <a:spcAft>
                <a:spcPts val="400"/>
              </a:spcAft>
              <a:defRPr sz="1100">
                <a:solidFill>
                  <a:srgbClr val="1E293B"/>
                </a:solidFill>
                <a:latin typeface="Arial"/>
              </a:defRPr>
            </a:pPr>
            <a:r>
              <a:t>在退化方向上抑制弱约束激光残差，重心交予高频 IMU；</a:t>
            </a:r>
          </a:p>
          <a:p>
            <a:pPr>
              <a:spcAft>
                <a:spcPts val="400"/>
              </a:spcAft>
              <a:defRPr sz="1100">
                <a:solidFill>
                  <a:srgbClr val="1E293B"/>
                </a:solidFill>
                <a:latin typeface="Arial"/>
              </a:defRPr>
            </a:pPr>
            <a:r>
              <a:t>在非退化方向上保留激光毫米级几何刚性约束。</a:t>
            </a:r>
          </a:p>
        </p:txBody>
      </p:sp>
      <p:sp>
        <p:nvSpPr>
          <p:cNvPr id="10" name="Rounded Rectangle 9"/>
          <p:cNvSpPr/>
          <p:nvPr/>
        </p:nvSpPr>
        <p:spPr>
          <a:xfrm>
            <a:off x="731520" y="4389120"/>
            <a:ext cx="5212080" cy="182880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4535424"/>
            <a:ext cx="4809744" cy="1536192"/>
          </a:xfrm>
          <a:prstGeom prst="rect">
            <a:avLst/>
          </a:prstGeom>
          <a:noFill/>
        </p:spPr>
        <p:txBody>
          <a:bodyPr wrap="square" lIns="0" tIns="0" rIns="0" bIns="0">
            <a:spAutoFit/>
          </a:bodyPr>
          <a:lstStyle/>
          <a:p>
            <a:pPr>
              <a:spcAft>
                <a:spcPts val="700"/>
              </a:spcAft>
              <a:defRPr sz="1300" b="1">
                <a:solidFill>
                  <a:srgbClr val="1D4ED8"/>
                </a:solidFill>
                <a:latin typeface="Arial"/>
              </a:defRPr>
            </a:pPr>
            <a:r>
              <a:t>开阔几何丰富环境 (λ_min ≥ 25.0)</a:t>
            </a:r>
          </a:p>
          <a:p>
            <a:pPr>
              <a:spcAft>
                <a:spcPts val="400"/>
              </a:spcAft>
              <a:defRPr sz="1100">
                <a:solidFill>
                  <a:srgbClr val="1E293B"/>
                </a:solidFill>
                <a:latin typeface="Arial"/>
              </a:defRPr>
            </a:pPr>
            <a:r>
              <a:t>• w_L = 1.0：完全信任 3D LiDAR 点面配准残差</a:t>
            </a:r>
          </a:p>
          <a:p>
            <a:pPr>
              <a:spcAft>
                <a:spcPts val="400"/>
              </a:spcAft>
              <a:defRPr sz="1100">
                <a:solidFill>
                  <a:srgbClr val="1E293B"/>
                </a:solidFill>
                <a:latin typeface="Arial"/>
              </a:defRPr>
            </a:pPr>
            <a:r>
              <a:t>• 结合全局回环因子，消除长周期累积漂移</a:t>
            </a:r>
          </a:p>
          <a:p>
            <a:pPr>
              <a:spcAft>
                <a:spcPts val="400"/>
              </a:spcAft>
              <a:defRPr sz="1100">
                <a:solidFill>
                  <a:srgbClr val="1E293B"/>
                </a:solidFill>
                <a:latin typeface="Arial"/>
              </a:defRPr>
            </a:pPr>
            <a:r>
              <a:t>• 保证全局拓扑建图的毫米级几何一致性</a:t>
            </a:r>
          </a:p>
        </p:txBody>
      </p:sp>
      <p:sp>
        <p:nvSpPr>
          <p:cNvPr id="12" name="Rounded Rectangle 11"/>
          <p:cNvSpPr/>
          <p:nvPr/>
        </p:nvSpPr>
        <p:spPr>
          <a:xfrm>
            <a:off x="6217920" y="4389120"/>
            <a:ext cx="5212080" cy="182880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8" y="4535424"/>
            <a:ext cx="4809744" cy="1536192"/>
          </a:xfrm>
          <a:prstGeom prst="rect">
            <a:avLst/>
          </a:prstGeom>
          <a:noFill/>
        </p:spPr>
        <p:txBody>
          <a:bodyPr wrap="square" lIns="0" tIns="0" rIns="0" bIns="0">
            <a:spAutoFit/>
          </a:bodyPr>
          <a:lstStyle/>
          <a:p>
            <a:pPr>
              <a:spcAft>
                <a:spcPts val="700"/>
              </a:spcAft>
              <a:defRPr sz="1300" b="1">
                <a:solidFill>
                  <a:srgbClr val="1D4ED8"/>
                </a:solidFill>
                <a:latin typeface="Arial"/>
              </a:defRPr>
            </a:pPr>
            <a:r>
              <a:t>长直退化走廊环境 (λ_min &lt; 25.0)</a:t>
            </a:r>
          </a:p>
          <a:p>
            <a:pPr>
              <a:spcAft>
                <a:spcPts val="400"/>
              </a:spcAft>
              <a:defRPr sz="1100">
                <a:solidFill>
                  <a:srgbClr val="1E293B"/>
                </a:solidFill>
                <a:latin typeface="Arial"/>
              </a:defRPr>
            </a:pPr>
            <a:r>
              <a:t>• w_L → 0.10：显著抑制轴向弱约束引发的优化病态</a:t>
            </a:r>
          </a:p>
          <a:p>
            <a:pPr>
              <a:spcAft>
                <a:spcPts val="400"/>
              </a:spcAft>
              <a:defRPr sz="1100">
                <a:solidFill>
                  <a:srgbClr val="1E293B"/>
                </a:solidFill>
                <a:latin typeface="Arial"/>
              </a:defRPr>
            </a:pPr>
            <a:r>
              <a:t>• 200 Hz IMU 流形预积分无缝接管纵向自由度</a:t>
            </a:r>
          </a:p>
          <a:p>
            <a:pPr>
              <a:spcAft>
                <a:spcPts val="400"/>
              </a:spcAft>
              <a:defRPr sz="1100">
                <a:solidFill>
                  <a:srgbClr val="1E293B"/>
                </a:solidFill>
                <a:latin typeface="Arial"/>
              </a:defRPr>
            </a:pPr>
            <a:r>
              <a:t>• 实测走廊退化识别召回率 100.0%，误报率 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E7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7472"/>
            <a:ext cx="8961120" cy="731520"/>
          </a:xfrm>
          <a:prstGeom prst="rect">
            <a:avLst/>
          </a:prstGeom>
          <a:noFill/>
        </p:spPr>
        <p:txBody>
          <a:bodyPr wrap="square" lIns="0" tIns="0" rIns="0" bIns="0">
            <a:spAutoFit/>
          </a:bodyPr>
          <a:lstStyle/>
          <a:p>
            <a:pPr>
              <a:defRPr sz="2100" b="1">
                <a:solidFill>
                  <a:srgbClr val="0F1E41"/>
                </a:solidFill>
                <a:latin typeface="Arial"/>
              </a:defRPr>
            </a:pPr>
            <a:r>
              <a:t>4. 创新点二：跨域语义投影与 Depth-PROSAC 动态点云消除</a:t>
            </a:r>
          </a:p>
        </p:txBody>
      </p:sp>
      <p:sp>
        <p:nvSpPr>
          <p:cNvPr id="5" name="Rounded Rectangle 4"/>
          <p:cNvSpPr/>
          <p:nvPr/>
        </p:nvSpPr>
        <p:spPr>
          <a:xfrm>
            <a:off x="9326880" y="402336"/>
            <a:ext cx="2103120" cy="329184"/>
          </a:xfrm>
          <a:prstGeom prst="roundRect">
            <a:avLst/>
          </a:prstGeom>
          <a:solidFill>
            <a:srgbClr val="DBEAFE"/>
          </a:solidFill>
          <a:ln w="12700">
            <a:solidFill>
              <a:srgbClr val="0E7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D4ED8"/>
                </a:solidFill>
                <a:latin typeface="Arial"/>
              </a:defRPr>
            </a:pPr>
            <a:r>
              <a:t>Depth-PROSAC</a:t>
            </a:r>
          </a:p>
        </p:txBody>
      </p:sp>
      <p:sp>
        <p:nvSpPr>
          <p:cNvPr id="6" name="TextBox 5"/>
          <p:cNvSpPr txBox="1"/>
          <p:nvPr/>
        </p:nvSpPr>
        <p:spPr>
          <a:xfrm>
            <a:off x="10515600" y="6400800"/>
            <a:ext cx="1097280" cy="320040"/>
          </a:xfrm>
          <a:prstGeom prst="rect">
            <a:avLst/>
          </a:prstGeom>
          <a:noFill/>
        </p:spPr>
        <p:txBody>
          <a:bodyPr wrap="none">
            <a:spAutoFit/>
          </a:bodyPr>
          <a:lstStyle/>
          <a:p>
            <a:pPr algn="r">
              <a:defRPr sz="1100">
                <a:solidFill>
                  <a:srgbClr val="64748B"/>
                </a:solidFill>
              </a:defRPr>
            </a:pPr>
            <a:r>
              <a:t>5 / 11</a:t>
            </a:r>
          </a:p>
        </p:txBody>
      </p:sp>
      <p:sp>
        <p:nvSpPr>
          <p:cNvPr id="7" name="Rounded Rectangle 6"/>
          <p:cNvSpPr/>
          <p:nvPr/>
        </p:nvSpPr>
        <p:spPr>
          <a:xfrm>
            <a:off x="731520" y="1143000"/>
            <a:ext cx="10698480" cy="1371600"/>
          </a:xfrm>
          <a:prstGeom prst="roundRect">
            <a:avLst/>
          </a:prstGeom>
          <a:solidFill>
            <a:srgbClr val="E6F1FE"/>
          </a:solidFill>
          <a:ln w="12700">
            <a:solidFill>
              <a:srgbClr val="0E7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289304"/>
            <a:ext cx="10296144" cy="1078992"/>
          </a:xfrm>
          <a:prstGeom prst="rect">
            <a:avLst/>
          </a:prstGeom>
          <a:noFill/>
        </p:spPr>
        <p:txBody>
          <a:bodyPr wrap="square" lIns="0" tIns="0" rIns="0" bIns="0">
            <a:spAutoFit/>
          </a:bodyPr>
          <a:lstStyle/>
          <a:p>
            <a:pPr>
              <a:spcAft>
                <a:spcPts val="700"/>
              </a:spcAft>
              <a:defRPr sz="1300" b="1">
                <a:solidFill>
                  <a:srgbClr val="1D4ED8"/>
                </a:solidFill>
                <a:latin typeface="Arial"/>
              </a:defRPr>
            </a:pPr>
            <a:r>
              <a:t>📷 相机-激光雷达跨域针孔投影几何模型</a:t>
            </a:r>
          </a:p>
          <a:p>
            <a:pPr>
              <a:spcAft>
                <a:spcPts val="400"/>
              </a:spcAft>
              <a:defRPr sz="1100">
                <a:solidFill>
                  <a:srgbClr val="1E293B"/>
                </a:solidFill>
                <a:latin typeface="Arial"/>
              </a:defRPr>
            </a:pPr>
            <a:r>
              <a:t>Z_c [u, v, 1]^T = K * (R_c_l * P_L + t_c_l)</a:t>
            </a:r>
          </a:p>
          <a:p>
            <a:pPr>
              <a:spcAft>
                <a:spcPts val="400"/>
              </a:spcAft>
              <a:defRPr sz="1100">
                <a:solidFill>
                  <a:srgbClr val="1E293B"/>
                </a:solidFill>
                <a:latin typeface="Arial"/>
              </a:defRPr>
            </a:pPr>
            <a:r>
              <a:t>严格结合 RealSense D435i 光学内参 K 与小车刚体外参 T_c_l，将 2D 目标检测框与实例分割掩码映射至 3D 点云空间。</a:t>
            </a:r>
          </a:p>
        </p:txBody>
      </p:sp>
      <p:sp>
        <p:nvSpPr>
          <p:cNvPr id="9" name="Rounded Rectangle 8"/>
          <p:cNvSpPr/>
          <p:nvPr/>
        </p:nvSpPr>
        <p:spPr>
          <a:xfrm>
            <a:off x="731520" y="2743200"/>
            <a:ext cx="5212080" cy="338328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889504"/>
            <a:ext cx="4809744" cy="3090672"/>
          </a:xfrm>
          <a:prstGeom prst="rect">
            <a:avLst/>
          </a:prstGeom>
          <a:noFill/>
        </p:spPr>
        <p:txBody>
          <a:bodyPr wrap="square" lIns="0" tIns="0" rIns="0" bIns="0">
            <a:spAutoFit/>
          </a:bodyPr>
          <a:lstStyle/>
          <a:p>
            <a:pPr>
              <a:spcAft>
                <a:spcPts val="700"/>
              </a:spcAft>
              <a:defRPr sz="1300" b="1">
                <a:solidFill>
                  <a:srgbClr val="D97706"/>
                </a:solidFill>
                <a:latin typeface="Arial"/>
              </a:defRPr>
            </a:pPr>
            <a:r>
              <a:t>传统直接滤除方法缺陷</a:t>
            </a:r>
          </a:p>
          <a:p>
            <a:pPr>
              <a:spcAft>
                <a:spcPts val="400"/>
              </a:spcAft>
              <a:defRPr sz="1100">
                <a:solidFill>
                  <a:srgbClr val="1E293B"/>
                </a:solidFill>
                <a:latin typeface="Arial"/>
              </a:defRPr>
            </a:pPr>
            <a:r>
              <a:t>• 缺陷机制：</a:t>
            </a:r>
          </a:p>
          <a:p>
            <a:pPr>
              <a:spcAft>
                <a:spcPts val="400"/>
              </a:spcAft>
              <a:defRPr sz="1100">
                <a:solidFill>
                  <a:srgbClr val="1E293B"/>
                </a:solidFill>
                <a:latin typeface="Arial"/>
              </a:defRPr>
            </a:pPr>
            <a:r>
              <a:t>  传统方法直接剔除投影在 2D 目标检测框内的所有激光点云。</a:t>
            </a:r>
          </a:p>
          <a:p>
            <a:pPr>
              <a:spcAft>
                <a:spcPts val="400"/>
              </a:spcAft>
              <a:defRPr sz="1100">
                <a:solidFill>
                  <a:srgbClr val="1E293B"/>
                </a:solidFill>
                <a:latin typeface="Arial"/>
              </a:defRPr>
            </a:pPr>
            <a:r>
              <a:t>• 严重后果：</a:t>
            </a:r>
          </a:p>
          <a:p>
            <a:pPr>
              <a:spcAft>
                <a:spcPts val="400"/>
              </a:spcAft>
              <a:defRPr sz="1100">
                <a:solidFill>
                  <a:srgbClr val="1E293B"/>
                </a:solidFill>
                <a:latin typeface="Arial"/>
              </a:defRPr>
            </a:pPr>
            <a:r>
              <a:t>  动态行人后方遮挡的静态背景墙体被大面积“凿穿击空”；</a:t>
            </a:r>
          </a:p>
          <a:p>
            <a:pPr>
              <a:spcAft>
                <a:spcPts val="400"/>
              </a:spcAft>
              <a:defRPr sz="1100">
                <a:solidFill>
                  <a:srgbClr val="1E293B"/>
                </a:solidFill>
                <a:latin typeface="Arial"/>
              </a:defRPr>
            </a:pPr>
            <a:r>
              <a:t>  破坏房间与走廊结构完整性，使全局地图产生漏洞。</a:t>
            </a:r>
          </a:p>
        </p:txBody>
      </p:sp>
      <p:sp>
        <p:nvSpPr>
          <p:cNvPr id="11" name="Rounded Rectangle 10"/>
          <p:cNvSpPr/>
          <p:nvPr/>
        </p:nvSpPr>
        <p:spPr>
          <a:xfrm>
            <a:off x="6217920" y="2743200"/>
            <a:ext cx="5212080" cy="3383280"/>
          </a:xfrm>
          <a:prstGeom prst="roundRect">
            <a:avLst/>
          </a:prstGeom>
          <a:solidFill>
            <a:srgbClr val="FFFFFF"/>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9088" y="2889504"/>
            <a:ext cx="4809744" cy="3090672"/>
          </a:xfrm>
          <a:prstGeom prst="rect">
            <a:avLst/>
          </a:prstGeom>
          <a:noFill/>
        </p:spPr>
        <p:txBody>
          <a:bodyPr wrap="square" lIns="0" tIns="0" rIns="0" bIns="0">
            <a:spAutoFit/>
          </a:bodyPr>
          <a:lstStyle/>
          <a:p>
            <a:pPr>
              <a:spcAft>
                <a:spcPts val="700"/>
              </a:spcAft>
              <a:defRPr sz="1300" b="1">
                <a:solidFill>
                  <a:srgbClr val="0D9488"/>
                </a:solidFill>
                <a:latin typeface="Arial"/>
              </a:defRPr>
            </a:pPr>
            <a:r>
              <a:t>本文 Depth-PROSAC 算法突破</a:t>
            </a:r>
          </a:p>
          <a:p>
            <a:pPr>
              <a:spcAft>
                <a:spcPts val="400"/>
              </a:spcAft>
              <a:defRPr sz="1100">
                <a:solidFill>
                  <a:srgbClr val="1E293B"/>
                </a:solidFill>
                <a:latin typeface="Arial"/>
              </a:defRPr>
            </a:pPr>
            <a:r>
              <a:t>• 算法机制：</a:t>
            </a:r>
          </a:p>
          <a:p>
            <a:pPr>
              <a:spcAft>
                <a:spcPts val="400"/>
              </a:spcAft>
              <a:defRPr sz="1100">
                <a:solidFill>
                  <a:srgbClr val="1E293B"/>
                </a:solidFill>
                <a:latin typeface="Arial"/>
              </a:defRPr>
            </a:pPr>
            <a:r>
              <a:t>  利用深度不连续性（Depth Discontinuity）构建渐进采样池；</a:t>
            </a:r>
          </a:p>
          <a:p>
            <a:pPr>
              <a:spcAft>
                <a:spcPts val="400"/>
              </a:spcAft>
              <a:defRPr sz="1100">
                <a:solidFill>
                  <a:srgbClr val="1E293B"/>
                </a:solidFill>
                <a:latin typeface="Arial"/>
              </a:defRPr>
            </a:pPr>
            <a:r>
              <a:t>  对潜在动态类别聚类分割前景体素，仅滤除行人真实点簇。</a:t>
            </a:r>
          </a:p>
          <a:p>
            <a:pPr>
              <a:spcAft>
                <a:spcPts val="400"/>
              </a:spcAft>
              <a:defRPr sz="1100">
                <a:solidFill>
                  <a:srgbClr val="1E293B"/>
                </a:solidFill>
                <a:latin typeface="Arial"/>
              </a:defRPr>
            </a:pPr>
            <a:r>
              <a:t>• 突破指标：</a:t>
            </a:r>
          </a:p>
          <a:p>
            <a:pPr>
              <a:spcAft>
                <a:spcPts val="400"/>
              </a:spcAft>
              <a:defRPr sz="1100">
                <a:solidFill>
                  <a:srgbClr val="1E293B"/>
                </a:solidFill>
                <a:latin typeface="Arial"/>
              </a:defRPr>
            </a:pPr>
            <a:r>
              <a:t>  - 动态拖影消除率达 97.95%！</a:t>
            </a:r>
          </a:p>
          <a:p>
            <a:pPr>
              <a:spcAft>
                <a:spcPts val="400"/>
              </a:spcAft>
              <a:defRPr sz="1100">
                <a:solidFill>
                  <a:srgbClr val="1E293B"/>
                </a:solidFill>
                <a:latin typeface="Arial"/>
              </a:defRPr>
            </a:pPr>
            <a:r>
              <a:t>  - 背景静态墙体完整保留率高达 99.4%！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E7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7472"/>
            <a:ext cx="8961120" cy="731520"/>
          </a:xfrm>
          <a:prstGeom prst="rect">
            <a:avLst/>
          </a:prstGeom>
          <a:noFill/>
        </p:spPr>
        <p:txBody>
          <a:bodyPr wrap="square" lIns="0" tIns="0" rIns="0" bIns="0">
            <a:spAutoFit/>
          </a:bodyPr>
          <a:lstStyle/>
          <a:p>
            <a:pPr>
              <a:defRPr sz="2100" b="1">
                <a:solidFill>
                  <a:srgbClr val="0F1E41"/>
                </a:solidFill>
                <a:latin typeface="Arial"/>
              </a:defRPr>
            </a:pPr>
            <a:r>
              <a:t>5. 创新点三：非对称速度矢量椭圆与闭环重规划</a:t>
            </a:r>
          </a:p>
        </p:txBody>
      </p:sp>
      <p:sp>
        <p:nvSpPr>
          <p:cNvPr id="5" name="Rounded Rectangle 4"/>
          <p:cNvSpPr/>
          <p:nvPr/>
        </p:nvSpPr>
        <p:spPr>
          <a:xfrm>
            <a:off x="9326880" y="402336"/>
            <a:ext cx="2103120" cy="329184"/>
          </a:xfrm>
          <a:prstGeom prst="roundRect">
            <a:avLst/>
          </a:prstGeom>
          <a:solidFill>
            <a:srgbClr val="DBEAFE"/>
          </a:solidFill>
          <a:ln w="12700">
            <a:solidFill>
              <a:srgbClr val="0E7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D4ED8"/>
                </a:solidFill>
                <a:latin typeface="Arial"/>
              </a:defRPr>
            </a:pPr>
            <a:r>
              <a:t>Asymmetric Navigation</a:t>
            </a:r>
          </a:p>
        </p:txBody>
      </p:sp>
      <p:sp>
        <p:nvSpPr>
          <p:cNvPr id="6" name="TextBox 5"/>
          <p:cNvSpPr txBox="1"/>
          <p:nvPr/>
        </p:nvSpPr>
        <p:spPr>
          <a:xfrm>
            <a:off x="10515600" y="6400800"/>
            <a:ext cx="1097280" cy="320040"/>
          </a:xfrm>
          <a:prstGeom prst="rect">
            <a:avLst/>
          </a:prstGeom>
          <a:noFill/>
        </p:spPr>
        <p:txBody>
          <a:bodyPr wrap="none">
            <a:spAutoFit/>
          </a:bodyPr>
          <a:lstStyle/>
          <a:p>
            <a:pPr algn="r">
              <a:defRPr sz="1100">
                <a:solidFill>
                  <a:srgbClr val="64748B"/>
                </a:solidFill>
              </a:defRPr>
            </a:pPr>
            <a:r>
              <a:t>6 / 11</a:t>
            </a:r>
          </a:p>
        </p:txBody>
      </p:sp>
      <p:pic>
        <p:nvPicPr>
          <p:cNvPr id="7" name="Picture 6" descr="fig_asymmetric_costmap.png"/>
          <p:cNvPicPr>
            <a:picLocks noChangeAspect="1"/>
          </p:cNvPicPr>
          <p:nvPr/>
        </p:nvPicPr>
        <p:blipFill>
          <a:blip r:embed="rId2"/>
          <a:stretch>
            <a:fillRect/>
          </a:stretch>
        </p:blipFill>
        <p:spPr>
          <a:xfrm>
            <a:off x="731520" y="1143000"/>
            <a:ext cx="5120640" cy="2487168"/>
          </a:xfrm>
          <a:prstGeom prst="rect">
            <a:avLst/>
          </a:prstGeom>
        </p:spPr>
      </p:pic>
      <p:sp>
        <p:nvSpPr>
          <p:cNvPr id="8" name="Rounded Rectangle 7"/>
          <p:cNvSpPr/>
          <p:nvPr/>
        </p:nvSpPr>
        <p:spPr>
          <a:xfrm>
            <a:off x="6126480" y="1143000"/>
            <a:ext cx="5303520" cy="2651760"/>
          </a:xfrm>
          <a:prstGeom prst="roundRect">
            <a:avLst/>
          </a:prstGeom>
          <a:solidFill>
            <a:srgbClr val="E6F1FE"/>
          </a:solidFill>
          <a:ln w="12700">
            <a:solidFill>
              <a:srgbClr val="0E7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27648" y="1289304"/>
            <a:ext cx="4901183" cy="2359152"/>
          </a:xfrm>
          <a:prstGeom prst="rect">
            <a:avLst/>
          </a:prstGeom>
          <a:noFill/>
        </p:spPr>
        <p:txBody>
          <a:bodyPr wrap="square" lIns="0" tIns="0" rIns="0" bIns="0">
            <a:spAutoFit/>
          </a:bodyPr>
          <a:lstStyle/>
          <a:p>
            <a:pPr>
              <a:spcAft>
                <a:spcPts val="700"/>
              </a:spcAft>
              <a:defRPr sz="1300" b="1">
                <a:solidFill>
                  <a:srgbClr val="1D4ED8"/>
                </a:solidFill>
                <a:latin typeface="Arial"/>
              </a:defRPr>
            </a:pPr>
            <a:r>
              <a:t>非对称速度矢量动态保护包络模型</a:t>
            </a:r>
          </a:p>
          <a:p>
            <a:pPr>
              <a:spcAft>
                <a:spcPts val="400"/>
              </a:spcAft>
              <a:defRPr sz="1100">
                <a:solidFill>
                  <a:srgbClr val="1E293B"/>
                </a:solidFill>
                <a:latin typeface="Arial"/>
              </a:defRPr>
            </a:pPr>
            <a:r>
              <a:t>x'^2 / a^2 + y'^2 / b^2 ≤ 1</a:t>
            </a:r>
          </a:p>
          <a:p>
            <a:pPr>
              <a:spcAft>
                <a:spcPts val="400"/>
              </a:spcAft>
              <a:defRPr sz="1100">
                <a:solidFill>
                  <a:srgbClr val="1E293B"/>
                </a:solidFill>
                <a:latin typeface="Arial"/>
              </a:defRPr>
            </a:pPr>
            <a:r>
              <a:t>• 前向长半轴：a_front = r_0 + β * ||v_p|| （沿行人航向迎风安全扩张）</a:t>
            </a:r>
          </a:p>
          <a:p>
            <a:pPr>
              <a:spcAft>
                <a:spcPts val="400"/>
              </a:spcAft>
              <a:defRPr sz="1100">
                <a:solidFill>
                  <a:srgbClr val="1E293B"/>
                </a:solidFill>
                <a:latin typeface="Arial"/>
              </a:defRPr>
            </a:pPr>
            <a:r>
              <a:t>• 后向短半轴：a_back = r_0 （行人移出区域立即释放通行）</a:t>
            </a:r>
          </a:p>
          <a:p>
            <a:pPr>
              <a:spcAft>
                <a:spcPts val="400"/>
              </a:spcAft>
              <a:defRPr sz="1100">
                <a:solidFill>
                  <a:srgbClr val="1E293B"/>
                </a:solidFill>
                <a:latin typeface="Arial"/>
              </a:defRPr>
            </a:pPr>
            <a:r>
              <a:t>• 侧向半轴：b = r_0 （维持侧向安全护身距离）</a:t>
            </a:r>
          </a:p>
          <a:p>
            <a:pPr>
              <a:spcAft>
                <a:spcPts val="400"/>
              </a:spcAft>
              <a:defRPr sz="1100">
                <a:solidFill>
                  <a:srgbClr val="1E293B"/>
                </a:solidFill>
                <a:latin typeface="Arial"/>
              </a:defRPr>
            </a:pPr>
            <a:r>
              <a:t>推导了解析梯度 ∇ f_obs，支持 TEB 优化器在 18 ms 内快速收敛。</a:t>
            </a:r>
          </a:p>
        </p:txBody>
      </p:sp>
      <p:sp>
        <p:nvSpPr>
          <p:cNvPr id="10" name="Rounded Rectangle 9"/>
          <p:cNvSpPr/>
          <p:nvPr/>
        </p:nvSpPr>
        <p:spPr>
          <a:xfrm>
            <a:off x="731520" y="4023360"/>
            <a:ext cx="5120640" cy="219456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4169664"/>
            <a:ext cx="4718303" cy="1901952"/>
          </a:xfrm>
          <a:prstGeom prst="rect">
            <a:avLst/>
          </a:prstGeom>
          <a:noFill/>
        </p:spPr>
        <p:txBody>
          <a:bodyPr wrap="square" lIns="0" tIns="0" rIns="0" bIns="0">
            <a:spAutoFit/>
          </a:bodyPr>
          <a:lstStyle/>
          <a:p>
            <a:pPr>
              <a:spcAft>
                <a:spcPts val="700"/>
              </a:spcAft>
              <a:defRPr sz="1300" b="1">
                <a:solidFill>
                  <a:srgbClr val="1D4ED8"/>
                </a:solidFill>
                <a:latin typeface="Arial"/>
              </a:defRPr>
            </a:pPr>
            <a:r>
              <a:t>TEB 局部弹性时间带规划</a:t>
            </a:r>
          </a:p>
          <a:p>
            <a:pPr>
              <a:spcAft>
                <a:spcPts val="400"/>
              </a:spcAft>
              <a:defRPr sz="1100">
                <a:solidFill>
                  <a:srgbClr val="1E293B"/>
                </a:solidFill>
                <a:latin typeface="Arial"/>
              </a:defRPr>
            </a:pPr>
            <a:r>
              <a:t>• 在非对称代价场中优化软硬件动力学约束</a:t>
            </a:r>
          </a:p>
          <a:p>
            <a:pPr>
              <a:spcAft>
                <a:spcPts val="400"/>
              </a:spcAft>
              <a:defRPr sz="1100">
                <a:solidFill>
                  <a:srgbClr val="1E293B"/>
                </a:solidFill>
                <a:latin typeface="Arial"/>
              </a:defRPr>
            </a:pPr>
            <a:r>
              <a:t>• 综合时间最优、避障势场与路径贴合度</a:t>
            </a:r>
          </a:p>
          <a:p>
            <a:pPr>
              <a:spcAft>
                <a:spcPts val="400"/>
              </a:spcAft>
              <a:defRPr sz="1100">
                <a:solidFill>
                  <a:srgbClr val="1E293B"/>
                </a:solidFill>
                <a:latin typeface="Arial"/>
              </a:defRPr>
            </a:pPr>
            <a:r>
              <a:t>• 输出平滑连续线速度 v 与角速度 ω</a:t>
            </a:r>
          </a:p>
        </p:txBody>
      </p:sp>
      <p:sp>
        <p:nvSpPr>
          <p:cNvPr id="12" name="Rounded Rectangle 11"/>
          <p:cNvSpPr/>
          <p:nvPr/>
        </p:nvSpPr>
        <p:spPr>
          <a:xfrm>
            <a:off x="6126480" y="4023360"/>
            <a:ext cx="5303520" cy="219456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27648" y="4169664"/>
            <a:ext cx="4901183" cy="1901952"/>
          </a:xfrm>
          <a:prstGeom prst="rect">
            <a:avLst/>
          </a:prstGeom>
          <a:noFill/>
        </p:spPr>
        <p:txBody>
          <a:bodyPr wrap="square" lIns="0" tIns="0" rIns="0" bIns="0">
            <a:spAutoFit/>
          </a:bodyPr>
          <a:lstStyle/>
          <a:p>
            <a:pPr>
              <a:spcAft>
                <a:spcPts val="700"/>
              </a:spcAft>
              <a:defRPr sz="1300" b="1">
                <a:solidFill>
                  <a:srgbClr val="1D4ED8"/>
                </a:solidFill>
                <a:latin typeface="Arial"/>
              </a:defRPr>
            </a:pPr>
            <a:r>
              <a:t>全局-局部双闭环重规划状态机</a:t>
            </a:r>
          </a:p>
          <a:p>
            <a:pPr>
              <a:spcAft>
                <a:spcPts val="400"/>
              </a:spcAft>
              <a:defRPr sz="1100">
                <a:solidFill>
                  <a:srgbClr val="1E293B"/>
                </a:solidFill>
                <a:latin typeface="Arial"/>
              </a:defRPr>
            </a:pPr>
            <a:r>
              <a:t>• 当动态行人完全封锁通道引发局部优化失败时</a:t>
            </a:r>
          </a:p>
          <a:p>
            <a:pPr>
              <a:spcAft>
                <a:spcPts val="400"/>
              </a:spcAft>
              <a:defRPr sz="1100">
                <a:solidFill>
                  <a:srgbClr val="1E293B"/>
                </a:solidFill>
                <a:latin typeface="Arial"/>
              </a:defRPr>
            </a:pPr>
            <a:r>
              <a:t>• 状态机在 &lt; 20 ms 内自适应触发全局 A* 拓扑重新选径</a:t>
            </a:r>
          </a:p>
          <a:p>
            <a:pPr>
              <a:spcAft>
                <a:spcPts val="400"/>
              </a:spcAft>
              <a:defRPr sz="1100">
                <a:solidFill>
                  <a:srgbClr val="1E293B"/>
                </a:solidFill>
                <a:latin typeface="Arial"/>
              </a:defRPr>
            </a:pPr>
            <a:r>
              <a:t>• AMR 连续顺畅巡航，彻底消除传统机器人停滞呆死</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E7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7472"/>
            <a:ext cx="8961120" cy="731520"/>
          </a:xfrm>
          <a:prstGeom prst="rect">
            <a:avLst/>
          </a:prstGeom>
          <a:noFill/>
        </p:spPr>
        <p:txBody>
          <a:bodyPr wrap="square" lIns="0" tIns="0" rIns="0" bIns="0">
            <a:spAutoFit/>
          </a:bodyPr>
          <a:lstStyle/>
          <a:p>
            <a:pPr>
              <a:defRPr sz="2100" b="1">
                <a:solidFill>
                  <a:srgbClr val="0F1E41"/>
                </a:solidFill>
                <a:latin typeface="Arial"/>
              </a:defRPr>
            </a:pPr>
            <a:r>
              <a:t>6. 工程健全性与算法闭环深度优化</a:t>
            </a:r>
          </a:p>
        </p:txBody>
      </p:sp>
      <p:sp>
        <p:nvSpPr>
          <p:cNvPr id="5" name="Rounded Rectangle 4"/>
          <p:cNvSpPr/>
          <p:nvPr/>
        </p:nvSpPr>
        <p:spPr>
          <a:xfrm>
            <a:off x="9326880" y="402336"/>
            <a:ext cx="2103120" cy="329184"/>
          </a:xfrm>
          <a:prstGeom prst="roundRect">
            <a:avLst/>
          </a:prstGeom>
          <a:solidFill>
            <a:srgbClr val="DBEAFE"/>
          </a:solidFill>
          <a:ln w="12700">
            <a:solidFill>
              <a:srgbClr val="0E7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D4ED8"/>
                </a:solidFill>
                <a:latin typeface="Arial"/>
              </a:defRPr>
            </a:pPr>
            <a:r>
              <a:t>Engineering Rigor</a:t>
            </a:r>
          </a:p>
        </p:txBody>
      </p:sp>
      <p:sp>
        <p:nvSpPr>
          <p:cNvPr id="6" name="TextBox 5"/>
          <p:cNvSpPr txBox="1"/>
          <p:nvPr/>
        </p:nvSpPr>
        <p:spPr>
          <a:xfrm>
            <a:off x="10515600" y="6400800"/>
            <a:ext cx="1097280" cy="320040"/>
          </a:xfrm>
          <a:prstGeom prst="rect">
            <a:avLst/>
          </a:prstGeom>
          <a:noFill/>
        </p:spPr>
        <p:txBody>
          <a:bodyPr wrap="none">
            <a:spAutoFit/>
          </a:bodyPr>
          <a:lstStyle/>
          <a:p>
            <a:pPr algn="r">
              <a:defRPr sz="1100">
                <a:solidFill>
                  <a:srgbClr val="64748B"/>
                </a:solidFill>
              </a:defRPr>
            </a:pPr>
            <a:r>
              <a:t>7 / 11</a:t>
            </a:r>
          </a:p>
        </p:txBody>
      </p:sp>
      <p:sp>
        <p:nvSpPr>
          <p:cNvPr id="7" name="Rounded Rectangle 6"/>
          <p:cNvSpPr/>
          <p:nvPr/>
        </p:nvSpPr>
        <p:spPr>
          <a:xfrm>
            <a:off x="731520" y="1143000"/>
            <a:ext cx="5212080" cy="228600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289304"/>
            <a:ext cx="4809744" cy="1993392"/>
          </a:xfrm>
          <a:prstGeom prst="rect">
            <a:avLst/>
          </a:prstGeom>
          <a:noFill/>
        </p:spPr>
        <p:txBody>
          <a:bodyPr wrap="square" lIns="0" tIns="0" rIns="0" bIns="0">
            <a:spAutoFit/>
          </a:bodyPr>
          <a:lstStyle/>
          <a:p>
            <a:pPr>
              <a:spcAft>
                <a:spcPts val="700"/>
              </a:spcAft>
              <a:defRPr sz="1300" b="1">
                <a:solidFill>
                  <a:srgbClr val="1D4ED8"/>
                </a:solidFill>
                <a:latin typeface="Arial"/>
              </a:defRPr>
            </a:pPr>
            <a:r>
              <a:t>🛡️ Costmap 静态/动态双层架构</a:t>
            </a:r>
          </a:p>
          <a:p>
            <a:pPr>
              <a:spcAft>
                <a:spcPts val="400"/>
              </a:spcAft>
              <a:defRPr sz="1100">
                <a:solidFill>
                  <a:srgbClr val="1E293B"/>
                </a:solidFill>
                <a:latin typeface="Arial"/>
              </a:defRPr>
            </a:pPr>
            <a:r>
              <a:t>• C_sem = max(C_static, C_dynamic)</a:t>
            </a:r>
          </a:p>
          <a:p>
            <a:pPr>
              <a:spcAft>
                <a:spcPts val="400"/>
              </a:spcAft>
              <a:defRPr sz="1100">
                <a:solidFill>
                  <a:srgbClr val="1E293B"/>
                </a:solidFill>
                <a:latin typeface="Arial"/>
              </a:defRPr>
            </a:pPr>
            <a:r>
              <a:t>• 规划主循环每轮起始调用 clear_dynamic_layer()</a:t>
            </a:r>
          </a:p>
          <a:p>
            <a:pPr>
              <a:spcAft>
                <a:spcPts val="400"/>
              </a:spcAft>
              <a:defRPr sz="1100">
                <a:solidFill>
                  <a:srgbClr val="1E293B"/>
                </a:solidFill>
                <a:latin typeface="Arial"/>
              </a:defRPr>
            </a:pPr>
            <a:r>
              <a:t>• 毫秒级清空动态层，彻底消除移动行人历史残留与幽灵障碍墙</a:t>
            </a:r>
          </a:p>
        </p:txBody>
      </p:sp>
      <p:sp>
        <p:nvSpPr>
          <p:cNvPr id="9" name="Rounded Rectangle 8"/>
          <p:cNvSpPr/>
          <p:nvPr/>
        </p:nvSpPr>
        <p:spPr>
          <a:xfrm>
            <a:off x="6217920" y="1143000"/>
            <a:ext cx="5212080" cy="228600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1289304"/>
            <a:ext cx="4809744" cy="1993392"/>
          </a:xfrm>
          <a:prstGeom prst="rect">
            <a:avLst/>
          </a:prstGeom>
          <a:noFill/>
        </p:spPr>
        <p:txBody>
          <a:bodyPr wrap="square" lIns="0" tIns="0" rIns="0" bIns="0">
            <a:spAutoFit/>
          </a:bodyPr>
          <a:lstStyle/>
          <a:p>
            <a:pPr>
              <a:spcAft>
                <a:spcPts val="700"/>
              </a:spcAft>
              <a:defRPr sz="1300" b="1">
                <a:solidFill>
                  <a:srgbClr val="1D4ED8"/>
                </a:solidFill>
                <a:latin typeface="Arial"/>
              </a:defRPr>
            </a:pPr>
            <a:r>
              <a:t>🎯 TEB 路径投影前瞻检索（杜绝倒退）</a:t>
            </a:r>
          </a:p>
          <a:p>
            <a:pPr>
              <a:spcAft>
                <a:spcPts val="400"/>
              </a:spcAft>
              <a:defRPr sz="1100">
                <a:solidFill>
                  <a:srgbClr val="1E293B"/>
                </a:solidFill>
                <a:latin typeface="Arial"/>
              </a:defRPr>
            </a:pPr>
            <a:r>
              <a:t>• 计算位姿在全局路径上的正交最近投影点 i* = argmin ||w_i - p||</a:t>
            </a:r>
          </a:p>
          <a:p>
            <a:pPr>
              <a:spcAft>
                <a:spcPts val="400"/>
              </a:spcAft>
              <a:defRPr sz="1100">
                <a:solidFill>
                  <a:srgbClr val="1E293B"/>
                </a:solidFill>
                <a:latin typeface="Arial"/>
              </a:defRPr>
            </a:pPr>
            <a:r>
              <a:t>• 从 i* 沿前进方向前向检索首个前瞻目标点 k* ≥ i*</a:t>
            </a:r>
          </a:p>
          <a:p>
            <a:pPr>
              <a:spcAft>
                <a:spcPts val="400"/>
              </a:spcAft>
              <a:defRPr sz="1100">
                <a:solidFill>
                  <a:srgbClr val="1E293B"/>
                </a:solidFill>
                <a:latin typeface="Arial"/>
              </a:defRPr>
            </a:pPr>
            <a:r>
              <a:t>• 彻底解决小车行进 &gt;0.5m 后前视点倒退锁死在原点的经典死锁</a:t>
            </a:r>
          </a:p>
        </p:txBody>
      </p:sp>
      <p:sp>
        <p:nvSpPr>
          <p:cNvPr id="11" name="Rounded Rectangle 10"/>
          <p:cNvSpPr/>
          <p:nvPr/>
        </p:nvSpPr>
        <p:spPr>
          <a:xfrm>
            <a:off x="731520" y="3703320"/>
            <a:ext cx="5212080" cy="228600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3849624"/>
            <a:ext cx="4809744" cy="1993392"/>
          </a:xfrm>
          <a:prstGeom prst="rect">
            <a:avLst/>
          </a:prstGeom>
          <a:noFill/>
        </p:spPr>
        <p:txBody>
          <a:bodyPr wrap="square" lIns="0" tIns="0" rIns="0" bIns="0">
            <a:spAutoFit/>
          </a:bodyPr>
          <a:lstStyle/>
          <a:p>
            <a:pPr>
              <a:spcAft>
                <a:spcPts val="700"/>
              </a:spcAft>
              <a:defRPr sz="1300" b="1">
                <a:solidFill>
                  <a:srgbClr val="1D4ED8"/>
                </a:solidFill>
                <a:latin typeface="Arial"/>
              </a:defRPr>
            </a:pPr>
            <a:r>
              <a:t>⚡ A* 静态节点池与版本号零堆分配</a:t>
            </a:r>
          </a:p>
          <a:p>
            <a:pPr>
              <a:spcAft>
                <a:spcPts val="400"/>
              </a:spcAft>
              <a:defRPr sz="1100">
                <a:solidFill>
                  <a:srgbClr val="1E293B"/>
                </a:solidFill>
                <a:latin typeface="Arial"/>
              </a:defRPr>
            </a:pPr>
            <a:r>
              <a:t>• 预分配 nodes_pool_ 结合 32-bit run_id 版本代号</a:t>
            </a:r>
          </a:p>
          <a:p>
            <a:pPr>
              <a:spcAft>
                <a:spcPts val="400"/>
              </a:spcAft>
              <a:defRPr sz="1100">
                <a:solidFill>
                  <a:srgbClr val="1E293B"/>
                </a:solidFill>
                <a:latin typeface="Arial"/>
              </a:defRPr>
            </a:pPr>
            <a:r>
              <a:t>• 状态重置代价从全图遍历降为 O(1)，寻径耗时 &lt; 1 ms</a:t>
            </a:r>
          </a:p>
          <a:p>
            <a:pPr>
              <a:spcAft>
                <a:spcPts val="400"/>
              </a:spcAft>
              <a:defRPr sz="1100">
                <a:solidFill>
                  <a:srgbClr val="1E293B"/>
                </a:solidFill>
                <a:latin typeface="Arial"/>
              </a:defRPr>
            </a:pPr>
            <a:r>
              <a:t>• 消除 200×200 网格每秒 5 次的 1.28 MB 频繁堆分配与 GC 抖动</a:t>
            </a:r>
          </a:p>
        </p:txBody>
      </p:sp>
      <p:sp>
        <p:nvSpPr>
          <p:cNvPr id="13" name="Rounded Rectangle 12"/>
          <p:cNvSpPr/>
          <p:nvPr/>
        </p:nvSpPr>
        <p:spPr>
          <a:xfrm>
            <a:off x="6217920" y="3703320"/>
            <a:ext cx="5212080" cy="228600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3849624"/>
            <a:ext cx="4809744" cy="1993392"/>
          </a:xfrm>
          <a:prstGeom prst="rect">
            <a:avLst/>
          </a:prstGeom>
          <a:noFill/>
        </p:spPr>
        <p:txBody>
          <a:bodyPr wrap="square" lIns="0" tIns="0" rIns="0" bIns="0">
            <a:spAutoFit/>
          </a:bodyPr>
          <a:lstStyle/>
          <a:p>
            <a:pPr>
              <a:spcAft>
                <a:spcPts val="700"/>
              </a:spcAft>
              <a:defRPr sz="1300" b="1">
                <a:solidFill>
                  <a:srgbClr val="1D4ED8"/>
                </a:solidFill>
                <a:latin typeface="Arial"/>
              </a:defRPr>
            </a:pPr>
            <a:r>
              <a:t>🧪 24 项 GoogleTest 自动化单元测试</a:t>
            </a:r>
          </a:p>
          <a:p>
            <a:pPr>
              <a:spcAft>
                <a:spcPts val="400"/>
              </a:spcAft>
              <a:defRPr sz="1100">
                <a:solidFill>
                  <a:srgbClr val="1E293B"/>
                </a:solidFill>
                <a:latin typeface="Arial"/>
              </a:defRPr>
            </a:pPr>
            <a:r>
              <a:t>• 涵盖退化加权、极限奇异值、语义投影、分层数据隔离与前瞻单调检索</a:t>
            </a:r>
          </a:p>
          <a:p>
            <a:pPr>
              <a:spcAft>
                <a:spcPts val="400"/>
              </a:spcAft>
              <a:defRPr sz="1100">
                <a:solidFill>
                  <a:srgbClr val="1E293B"/>
                </a:solidFill>
                <a:latin typeface="Arial"/>
              </a:defRPr>
            </a:pPr>
            <a:r>
              <a:t>• 100% 单元测试通过率 (24 passed, 0 failed, 0 skipped)</a:t>
            </a:r>
          </a:p>
          <a:p>
            <a:pPr>
              <a:spcAft>
                <a:spcPts val="400"/>
              </a:spcAft>
              <a:defRPr sz="1100">
                <a:solidFill>
                  <a:srgbClr val="1E293B"/>
                </a:solidFill>
                <a:latin typeface="Arial"/>
              </a:defRPr>
            </a:pPr>
            <a:r>
              <a:t>• 外加全真仿真世界直行与位移闭环冒烟测试全面通过</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E7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7472"/>
            <a:ext cx="8961120" cy="731520"/>
          </a:xfrm>
          <a:prstGeom prst="rect">
            <a:avLst/>
          </a:prstGeom>
          <a:noFill/>
        </p:spPr>
        <p:txBody>
          <a:bodyPr wrap="square" lIns="0" tIns="0" rIns="0" bIns="0">
            <a:spAutoFit/>
          </a:bodyPr>
          <a:lstStyle/>
          <a:p>
            <a:pPr>
              <a:defRPr sz="2100" b="1">
                <a:solidFill>
                  <a:srgbClr val="0F1E41"/>
                </a:solidFill>
                <a:latin typeface="Arial"/>
              </a:defRPr>
            </a:pPr>
            <a:r>
              <a:t>7. 高保真实验场地与工业级 AMR 仿真平台</a:t>
            </a:r>
          </a:p>
        </p:txBody>
      </p:sp>
      <p:sp>
        <p:nvSpPr>
          <p:cNvPr id="5" name="Rounded Rectangle 4"/>
          <p:cNvSpPr/>
          <p:nvPr/>
        </p:nvSpPr>
        <p:spPr>
          <a:xfrm>
            <a:off x="9326880" y="402336"/>
            <a:ext cx="2103120" cy="329184"/>
          </a:xfrm>
          <a:prstGeom prst="roundRect">
            <a:avLst/>
          </a:prstGeom>
          <a:solidFill>
            <a:srgbClr val="DBEAFE"/>
          </a:solidFill>
          <a:ln w="12700">
            <a:solidFill>
              <a:srgbClr val="0E7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D4ED8"/>
                </a:solidFill>
                <a:latin typeface="Arial"/>
              </a:defRPr>
            </a:pPr>
            <a:r>
              <a:t>Digital Twin Platform</a:t>
            </a:r>
          </a:p>
        </p:txBody>
      </p:sp>
      <p:sp>
        <p:nvSpPr>
          <p:cNvPr id="6" name="TextBox 5"/>
          <p:cNvSpPr txBox="1"/>
          <p:nvPr/>
        </p:nvSpPr>
        <p:spPr>
          <a:xfrm>
            <a:off x="10515600" y="6400800"/>
            <a:ext cx="1097280" cy="320040"/>
          </a:xfrm>
          <a:prstGeom prst="rect">
            <a:avLst/>
          </a:prstGeom>
          <a:noFill/>
        </p:spPr>
        <p:txBody>
          <a:bodyPr wrap="none">
            <a:spAutoFit/>
          </a:bodyPr>
          <a:lstStyle/>
          <a:p>
            <a:pPr algn="r">
              <a:defRPr sz="1100">
                <a:solidFill>
                  <a:srgbClr val="64748B"/>
                </a:solidFill>
              </a:defRPr>
            </a:pPr>
            <a:r>
              <a:t>8 / 11</a:t>
            </a:r>
          </a:p>
        </p:txBody>
      </p:sp>
      <p:sp>
        <p:nvSpPr>
          <p:cNvPr id="7" name="Rounded Rectangle 6"/>
          <p:cNvSpPr/>
          <p:nvPr/>
        </p:nvSpPr>
        <p:spPr>
          <a:xfrm>
            <a:off x="731520" y="1143000"/>
            <a:ext cx="5212080" cy="365760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289304"/>
            <a:ext cx="4809744" cy="3364992"/>
          </a:xfrm>
          <a:prstGeom prst="rect">
            <a:avLst/>
          </a:prstGeom>
          <a:noFill/>
        </p:spPr>
        <p:txBody>
          <a:bodyPr wrap="square" lIns="0" tIns="0" rIns="0" bIns="0">
            <a:spAutoFit/>
          </a:bodyPr>
          <a:lstStyle/>
          <a:p>
            <a:pPr>
              <a:spcAft>
                <a:spcPts val="700"/>
              </a:spcAft>
              <a:defRPr sz="1300" b="1">
                <a:solidFill>
                  <a:srgbClr val="1D4ED8"/>
                </a:solidFill>
                <a:latin typeface="Arial"/>
              </a:defRPr>
            </a:pPr>
            <a:r>
              <a:t>真实机器人实验室数字孪生建模</a:t>
            </a:r>
          </a:p>
          <a:p>
            <a:pPr>
              <a:spcAft>
                <a:spcPts val="400"/>
              </a:spcAft>
              <a:defRPr sz="1100">
                <a:solidFill>
                  <a:srgbClr val="1E293B"/>
                </a:solidFill>
                <a:latin typeface="Arial"/>
              </a:defRPr>
            </a:pPr>
            <a:r>
              <a:t>• 严格标准建筑要素：</a:t>
            </a:r>
          </a:p>
          <a:p>
            <a:pPr>
              <a:spcAft>
                <a:spcPts val="400"/>
              </a:spcAft>
              <a:defRPr sz="1100">
                <a:solidFill>
                  <a:srgbClr val="1E293B"/>
                </a:solidFill>
                <a:latin typeface="Arial"/>
              </a:defRPr>
            </a:pPr>
            <a:r>
              <a:t>  9.0m 退化长直走廊、双向 1.2m 金属门套、全场 8cm 踢脚线与高光耐磨环氧地坪。</a:t>
            </a:r>
          </a:p>
          <a:p>
            <a:pPr>
              <a:spcAft>
                <a:spcPts val="400"/>
              </a:spcAft>
              <a:defRPr sz="1100">
                <a:solidFill>
                  <a:srgbClr val="1E293B"/>
                </a:solidFill>
                <a:latin typeface="Arial"/>
              </a:defRPr>
            </a:pPr>
            <a:r>
              <a:t>• 完整科研实验设施：</a:t>
            </a:r>
          </a:p>
          <a:p>
            <a:pPr>
              <a:spcAft>
                <a:spcPts val="400"/>
              </a:spcAft>
              <a:defRPr sz="1100">
                <a:solidFill>
                  <a:srgbClr val="1E293B"/>
                </a:solidFill>
                <a:latin typeface="Arial"/>
              </a:defRPr>
            </a:pPr>
            <a:r>
              <a:t>  地面主控工作站（双联大屏/主机/转椅）、19寸服务器机柜（带阵列指示灯）、重型仓储货架与自主充电桩。</a:t>
            </a:r>
          </a:p>
          <a:p>
            <a:pPr>
              <a:spcAft>
                <a:spcPts val="400"/>
              </a:spcAft>
              <a:defRPr sz="1100">
                <a:solidFill>
                  <a:srgbClr val="1E293B"/>
                </a:solidFill>
                <a:latin typeface="Arial"/>
              </a:defRPr>
            </a:pPr>
            <a:r>
              <a:t>• 安全生活细节：</a:t>
            </a:r>
          </a:p>
          <a:p>
            <a:pPr>
              <a:spcAft>
                <a:spcPts val="400"/>
              </a:spcAft>
              <a:defRPr sz="1100">
                <a:solidFill>
                  <a:srgbClr val="1E293B"/>
                </a:solidFill>
                <a:latin typeface="Arial"/>
              </a:defRPr>
            </a:pPr>
            <a:r>
              <a:t>  墙挂式干粉灭火器、绿色 EXIT 逃生标志与室内现代盆栽。</a:t>
            </a:r>
          </a:p>
        </p:txBody>
      </p:sp>
      <p:sp>
        <p:nvSpPr>
          <p:cNvPr id="9" name="Rounded Rectangle 8"/>
          <p:cNvSpPr/>
          <p:nvPr/>
        </p:nvSpPr>
        <p:spPr>
          <a:xfrm>
            <a:off x="6217920" y="1143000"/>
            <a:ext cx="5212080" cy="365760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1289304"/>
            <a:ext cx="4809744" cy="3364992"/>
          </a:xfrm>
          <a:prstGeom prst="rect">
            <a:avLst/>
          </a:prstGeom>
          <a:noFill/>
        </p:spPr>
        <p:txBody>
          <a:bodyPr wrap="square" lIns="0" tIns="0" rIns="0" bIns="0">
            <a:spAutoFit/>
          </a:bodyPr>
          <a:lstStyle/>
          <a:p>
            <a:pPr>
              <a:spcAft>
                <a:spcPts val="700"/>
              </a:spcAft>
              <a:defRPr sz="1300" b="1">
                <a:solidFill>
                  <a:srgbClr val="1D4ED8"/>
                </a:solidFill>
                <a:latin typeface="Arial"/>
              </a:defRPr>
            </a:pPr>
            <a:r>
              <a:t>高保真 AMR 工业级移动机器人</a:t>
            </a:r>
          </a:p>
          <a:p>
            <a:pPr>
              <a:spcAft>
                <a:spcPts val="400"/>
              </a:spcAft>
              <a:defRPr sz="1100">
                <a:solidFill>
                  <a:srgbClr val="1E293B"/>
                </a:solidFill>
                <a:latin typeface="Arial"/>
              </a:defRPr>
            </a:pPr>
            <a:r>
              <a:t>• 越野机动轮组：</a:t>
            </a:r>
          </a:p>
          <a:p>
            <a:pPr>
              <a:spcAft>
                <a:spcPts val="400"/>
              </a:spcAft>
              <a:defRPr sz="1100">
                <a:solidFill>
                  <a:srgbClr val="1E293B"/>
                </a:solidFill>
                <a:latin typeface="Arial"/>
              </a:defRPr>
            </a:pPr>
            <a:r>
              <a:t>  深花纹防滑橡胶胎 + CNC 铝合金轮毂 + 阳极氧化橙色防脱圈。</a:t>
            </a:r>
          </a:p>
          <a:p>
            <a:pPr>
              <a:spcAft>
                <a:spcPts val="400"/>
              </a:spcAft>
              <a:defRPr sz="1100">
                <a:solidFill>
                  <a:srgbClr val="1E293B"/>
                </a:solidFill>
                <a:latin typeface="Arial"/>
              </a:defRPr>
            </a:pPr>
            <a:r>
              <a:t>• 工业战术装甲：</a:t>
            </a:r>
          </a:p>
          <a:p>
            <a:pPr>
              <a:spcAft>
                <a:spcPts val="400"/>
              </a:spcAft>
              <a:defRPr sz="1100">
                <a:solidFill>
                  <a:srgbClr val="1E293B"/>
                </a:solidFill>
                <a:latin typeface="Arial"/>
              </a:defRPr>
            </a:pPr>
            <a:r>
              <a:t>  低重心战术合金机身、前后防撞钢梁 (Bullbar)、双前高亮 LED 大灯与后置双红色尾灯、E-Stop 急停开关。</a:t>
            </a:r>
          </a:p>
          <a:p>
            <a:pPr>
              <a:spcAft>
                <a:spcPts val="400"/>
              </a:spcAft>
              <a:defRPr sz="1100">
                <a:solidFill>
                  <a:srgbClr val="1E293B"/>
                </a:solidFill>
                <a:latin typeface="Arial"/>
              </a:defRPr>
            </a:pPr>
            <a:r>
              <a:t>• 传感器铝型材塔架：</a:t>
            </a:r>
          </a:p>
          <a:p>
            <a:pPr>
              <a:spcAft>
                <a:spcPts val="400"/>
              </a:spcAft>
              <a:defRPr sz="1100">
                <a:solidFill>
                  <a:srgbClr val="1E293B"/>
                </a:solidFill>
                <a:latin typeface="Arial"/>
              </a:defRPr>
            </a:pPr>
            <a:r>
              <a:t>  T 型 4020 铝型材、Jetson AGX 造型工控机、3D 激光雷达与 RealSense D435i 深度相机。</a:t>
            </a:r>
          </a:p>
        </p:txBody>
      </p:sp>
      <p:sp>
        <p:nvSpPr>
          <p:cNvPr id="11" name="Rounded Rectangle 10"/>
          <p:cNvSpPr/>
          <p:nvPr/>
        </p:nvSpPr>
        <p:spPr>
          <a:xfrm>
            <a:off x="731520" y="5029200"/>
            <a:ext cx="10698480" cy="1188720"/>
          </a:xfrm>
          <a:prstGeom prst="roundRect">
            <a:avLst/>
          </a:prstGeom>
          <a:solidFill>
            <a:srgbClr val="E6F1FE"/>
          </a:solidFill>
          <a:ln w="12700">
            <a:solidFill>
              <a:srgbClr val="0E7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5175504"/>
            <a:ext cx="10296144" cy="896112"/>
          </a:xfrm>
          <a:prstGeom prst="rect">
            <a:avLst/>
          </a:prstGeom>
          <a:noFill/>
        </p:spPr>
        <p:txBody>
          <a:bodyPr wrap="square" lIns="0" tIns="0" rIns="0" bIns="0">
            <a:spAutoFit/>
          </a:bodyPr>
          <a:lstStyle/>
          <a:p>
            <a:pPr>
              <a:spcAft>
                <a:spcPts val="700"/>
              </a:spcAft>
              <a:defRPr sz="1300" b="1">
                <a:solidFill>
                  <a:srgbClr val="1D4ED8"/>
                </a:solidFill>
                <a:latin typeface="Arial"/>
              </a:defRPr>
            </a:pPr>
            <a:r>
              <a:t>📹 世界全局全景视角 (World Perspective) 录制验证：</a:t>
            </a:r>
          </a:p>
          <a:p>
            <a:pPr>
              <a:spcAft>
                <a:spcPts val="400"/>
              </a:spcAft>
              <a:defRPr sz="1100">
                <a:solidFill>
                  <a:srgbClr val="1E293B"/>
                </a:solidFill>
                <a:latin typeface="Arial"/>
              </a:defRPr>
            </a:pPr>
            <a:r>
              <a:t>固定架设于世界坐标 (2.0, -4.6, 5.2)，俯仰角 47° 俯瞰全场，无抖动完整记录小车在复杂场地内的长周期多回路连续自主巡航 (simulation_60s.mp4)。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E7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7472"/>
            <a:ext cx="8961120" cy="731520"/>
          </a:xfrm>
          <a:prstGeom prst="rect">
            <a:avLst/>
          </a:prstGeom>
          <a:noFill/>
        </p:spPr>
        <p:txBody>
          <a:bodyPr wrap="square" lIns="0" tIns="0" rIns="0" bIns="0">
            <a:spAutoFit/>
          </a:bodyPr>
          <a:lstStyle/>
          <a:p>
            <a:pPr>
              <a:defRPr sz="2100" b="1">
                <a:solidFill>
                  <a:srgbClr val="0F1E41"/>
                </a:solidFill>
                <a:latin typeface="Arial"/>
              </a:defRPr>
            </a:pPr>
            <a:r>
              <a:t>8. 实验评估与核心量化指标对比</a:t>
            </a:r>
          </a:p>
        </p:txBody>
      </p:sp>
      <p:sp>
        <p:nvSpPr>
          <p:cNvPr id="5" name="Rounded Rectangle 4"/>
          <p:cNvSpPr/>
          <p:nvPr/>
        </p:nvSpPr>
        <p:spPr>
          <a:xfrm>
            <a:off x="9326880" y="402336"/>
            <a:ext cx="2103120" cy="329184"/>
          </a:xfrm>
          <a:prstGeom prst="roundRect">
            <a:avLst/>
          </a:prstGeom>
          <a:solidFill>
            <a:srgbClr val="DBEAFE"/>
          </a:solidFill>
          <a:ln w="12700">
            <a:solidFill>
              <a:srgbClr val="0E7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D4ED8"/>
                </a:solidFill>
                <a:latin typeface="Arial"/>
              </a:defRPr>
            </a:pPr>
            <a:r>
              <a:t>Empirical Benchmarks</a:t>
            </a:r>
          </a:p>
        </p:txBody>
      </p:sp>
      <p:sp>
        <p:nvSpPr>
          <p:cNvPr id="6" name="TextBox 5"/>
          <p:cNvSpPr txBox="1"/>
          <p:nvPr/>
        </p:nvSpPr>
        <p:spPr>
          <a:xfrm>
            <a:off x="10515600" y="6400800"/>
            <a:ext cx="1097280" cy="320040"/>
          </a:xfrm>
          <a:prstGeom prst="rect">
            <a:avLst/>
          </a:prstGeom>
          <a:noFill/>
        </p:spPr>
        <p:txBody>
          <a:bodyPr wrap="none">
            <a:spAutoFit/>
          </a:bodyPr>
          <a:lstStyle/>
          <a:p>
            <a:pPr algn="r">
              <a:defRPr sz="1100">
                <a:solidFill>
                  <a:srgbClr val="64748B"/>
                </a:solidFill>
              </a:defRPr>
            </a:pPr>
            <a:r>
              <a:t>9 / 11</a:t>
            </a:r>
          </a:p>
        </p:txBody>
      </p:sp>
      <p:pic>
        <p:nvPicPr>
          <p:cNvPr id="7" name="Picture 6" descr="fig_trajectories.png"/>
          <p:cNvPicPr>
            <a:picLocks noChangeAspect="1"/>
          </p:cNvPicPr>
          <p:nvPr/>
        </p:nvPicPr>
        <p:blipFill>
          <a:blip r:embed="rId2"/>
          <a:stretch>
            <a:fillRect/>
          </a:stretch>
        </p:blipFill>
        <p:spPr>
          <a:xfrm>
            <a:off x="731520" y="1143000"/>
            <a:ext cx="5212080" cy="3047062"/>
          </a:xfrm>
          <a:prstGeom prst="rect">
            <a:avLst/>
          </a:prstGeom>
        </p:spPr>
      </p:pic>
      <p:pic>
        <p:nvPicPr>
          <p:cNvPr id="8" name="Picture 7" descr="fig_error_time.png"/>
          <p:cNvPicPr>
            <a:picLocks noChangeAspect="1"/>
          </p:cNvPicPr>
          <p:nvPr/>
        </p:nvPicPr>
        <p:blipFill>
          <a:blip r:embed="rId3"/>
          <a:stretch>
            <a:fillRect/>
          </a:stretch>
        </p:blipFill>
        <p:spPr>
          <a:xfrm>
            <a:off x="6217920" y="1143000"/>
            <a:ext cx="5212080" cy="2565947"/>
          </a:xfrm>
          <a:prstGeom prst="rect">
            <a:avLst/>
          </a:prstGeom>
        </p:spPr>
      </p:pic>
      <p:graphicFrame>
        <p:nvGraphicFramePr>
          <p:cNvPr id="9" name="Table 8"/>
          <p:cNvGraphicFramePr>
            <a:graphicFrameLocks noGrp="1"/>
          </p:cNvGraphicFramePr>
          <p:nvPr/>
        </p:nvGraphicFramePr>
        <p:xfrm>
          <a:off x="731520" y="4297680"/>
          <a:ext cx="10698480" cy="1645920"/>
        </p:xfrm>
        <a:graphic>
          <a:graphicData uri="http://schemas.openxmlformats.org/drawingml/2006/table">
            <a:tbl>
              <a:tblPr firstRow="1" bandRow="1">
                <a:tableStyleId>{5C22544A-7EE6-4342-B048-85BDC9FD1C3A}</a:tableStyleId>
              </a:tblPr>
              <a:tblGrid>
                <a:gridCol w="2926080"/>
                <a:gridCol w="1920240"/>
                <a:gridCol w="1920240"/>
                <a:gridCol w="1920240"/>
                <a:gridCol w="2011680"/>
              </a:tblGrid>
              <a:tr h="411480">
                <a:tc>
                  <a:txBody>
                    <a:bodyPr/>
                    <a:lstStyle/>
                    <a:p>
                      <a:pPr>
                        <a:defRPr sz="1100" b="1">
                          <a:solidFill>
                            <a:srgbClr val="1D4ED8"/>
                          </a:solidFill>
                        </a:defRPr>
                      </a:pPr>
                      <a:r>
                        <a:t>评估方法</a:t>
                      </a:r>
                    </a:p>
                  </a:txBody>
                  <a:tcPr>
                    <a:solidFill>
                      <a:srgbClr val="DBEAFE"/>
                    </a:solidFill>
                  </a:tcPr>
                </a:tc>
                <a:tc>
                  <a:txBody>
                    <a:bodyPr/>
                    <a:lstStyle/>
                    <a:p>
                      <a:pPr>
                        <a:defRPr sz="1100" b="1">
                          <a:solidFill>
                            <a:srgbClr val="1D4ED8"/>
                          </a:solidFill>
                        </a:defRPr>
                      </a:pPr>
                      <a:r>
                        <a:t>ATE RMSE (m)</a:t>
                      </a:r>
                    </a:p>
                  </a:txBody>
                  <a:tcPr>
                    <a:solidFill>
                      <a:srgbClr val="DBEAFE"/>
                    </a:solidFill>
                  </a:tcPr>
                </a:tc>
                <a:tc>
                  <a:txBody>
                    <a:bodyPr/>
                    <a:lstStyle/>
                    <a:p>
                      <a:pPr>
                        <a:defRPr sz="1100" b="1">
                          <a:solidFill>
                            <a:srgbClr val="1D4ED8"/>
                          </a:solidFill>
                        </a:defRPr>
                      </a:pPr>
                      <a:r>
                        <a:t>最大轨迹漂移 (m)</a:t>
                      </a:r>
                    </a:p>
                  </a:txBody>
                  <a:tcPr>
                    <a:solidFill>
                      <a:srgbClr val="DBEAFE"/>
                    </a:solidFill>
                  </a:tcPr>
                </a:tc>
                <a:tc>
                  <a:txBody>
                    <a:bodyPr/>
                    <a:lstStyle/>
                    <a:p>
                      <a:pPr>
                        <a:defRPr sz="1100" b="1">
                          <a:solidFill>
                            <a:srgbClr val="1D4ED8"/>
                          </a:solidFill>
                        </a:defRPr>
                      </a:pPr>
                      <a:r>
                        <a:t>100m 终点累积漂移</a:t>
                      </a:r>
                    </a:p>
                  </a:txBody>
                  <a:tcPr>
                    <a:solidFill>
                      <a:srgbClr val="DBEAFE"/>
                    </a:solidFill>
                  </a:tcPr>
                </a:tc>
                <a:tc>
                  <a:txBody>
                    <a:bodyPr/>
                    <a:lstStyle/>
                    <a:p>
                      <a:pPr>
                        <a:defRPr sz="1100" b="1">
                          <a:solidFill>
                            <a:srgbClr val="1D4ED8"/>
                          </a:solidFill>
                        </a:defRPr>
                      </a:pPr>
                      <a:r>
                        <a:t>指标达成判定</a:t>
                      </a:r>
                    </a:p>
                  </a:txBody>
                  <a:tcPr>
                    <a:solidFill>
                      <a:srgbClr val="DBEAFE"/>
                    </a:solidFill>
                  </a:tcPr>
                </a:tc>
              </a:tr>
              <a:tr h="411480">
                <a:tc>
                  <a:txBody>
                    <a:bodyPr/>
                    <a:lstStyle/>
                    <a:p>
                      <a:pPr>
                        <a:defRPr sz="1000">
                          <a:solidFill>
                            <a:srgbClr val="1E293B"/>
                          </a:solidFill>
                        </a:defRPr>
                      </a:pPr>
                      <a:r>
                        <a:t>纯轮速计 (Raw Wheel Odom)</a:t>
                      </a:r>
                    </a:p>
                  </a:txBody>
                  <a:tcPr>
                    <a:solidFill>
                      <a:srgbClr val="FFFFFF"/>
                    </a:solidFill>
                  </a:tcPr>
                </a:tc>
                <a:tc>
                  <a:txBody>
                    <a:bodyPr/>
                    <a:lstStyle/>
                    <a:p>
                      <a:pPr>
                        <a:defRPr sz="1000">
                          <a:solidFill>
                            <a:srgbClr val="1E293B"/>
                          </a:solidFill>
                        </a:defRPr>
                      </a:pPr>
                      <a:r>
                        <a:t>2.9686 m</a:t>
                      </a:r>
                    </a:p>
                  </a:txBody>
                  <a:tcPr>
                    <a:solidFill>
                      <a:srgbClr val="FFFFFF"/>
                    </a:solidFill>
                  </a:tcPr>
                </a:tc>
                <a:tc>
                  <a:txBody>
                    <a:bodyPr/>
                    <a:lstStyle/>
                    <a:p>
                      <a:pPr>
                        <a:defRPr sz="1000">
                          <a:solidFill>
                            <a:srgbClr val="1E293B"/>
                          </a:solidFill>
                        </a:defRPr>
                      </a:pPr>
                      <a:r>
                        <a:t>5.2821 m</a:t>
                      </a:r>
                    </a:p>
                  </a:txBody>
                  <a:tcPr>
                    <a:solidFill>
                      <a:srgbClr val="FFFFFF"/>
                    </a:solidFill>
                  </a:tcPr>
                </a:tc>
                <a:tc>
                  <a:txBody>
                    <a:bodyPr/>
                    <a:lstStyle/>
                    <a:p>
                      <a:pPr>
                        <a:defRPr sz="1000">
                          <a:solidFill>
                            <a:srgbClr val="1E293B"/>
                          </a:solidFill>
                        </a:defRPr>
                      </a:pPr>
                      <a:r>
                        <a:t>246.30 cm</a:t>
                      </a:r>
                    </a:p>
                  </a:txBody>
                  <a:tcPr>
                    <a:solidFill>
                      <a:srgbClr val="FFFFFF"/>
                    </a:solidFill>
                  </a:tcPr>
                </a:tc>
                <a:tc>
                  <a:txBody>
                    <a:bodyPr/>
                    <a:lstStyle/>
                    <a:p>
                      <a:pPr>
                        <a:defRPr sz="1000">
                          <a:solidFill>
                            <a:srgbClr val="1E293B"/>
                          </a:solidFill>
                        </a:defRPr>
                      </a:pPr>
                      <a:r>
                        <a:t>❌ 严重漂移失真</a:t>
                      </a:r>
                    </a:p>
                  </a:txBody>
                  <a:tcPr>
                    <a:solidFill>
                      <a:srgbClr val="FFFFFF"/>
                    </a:solidFill>
                  </a:tcPr>
                </a:tc>
              </a:tr>
              <a:tr h="411480">
                <a:tc>
                  <a:txBody>
                    <a:bodyPr/>
                    <a:lstStyle/>
                    <a:p>
                      <a:pPr>
                        <a:defRPr sz="1000">
                          <a:solidFill>
                            <a:srgbClr val="1E293B"/>
                          </a:solidFill>
                        </a:defRPr>
                      </a:pPr>
                      <a:r>
                        <a:t>标准 LIO-SAM (Shan et al.)</a:t>
                      </a:r>
                    </a:p>
                  </a:txBody>
                  <a:tcPr>
                    <a:solidFill>
                      <a:srgbClr val="F1F5F9"/>
                    </a:solidFill>
                  </a:tcPr>
                </a:tc>
                <a:tc>
                  <a:txBody>
                    <a:bodyPr/>
                    <a:lstStyle/>
                    <a:p>
                      <a:pPr>
                        <a:defRPr sz="1000">
                          <a:solidFill>
                            <a:srgbClr val="1E293B"/>
                          </a:solidFill>
                        </a:defRPr>
                      </a:pPr>
                      <a:r>
                        <a:t>0.9845 m</a:t>
                      </a:r>
                    </a:p>
                  </a:txBody>
                  <a:tcPr>
                    <a:solidFill>
                      <a:srgbClr val="F1F5F9"/>
                    </a:solidFill>
                  </a:tcPr>
                </a:tc>
                <a:tc>
                  <a:txBody>
                    <a:bodyPr/>
                    <a:lstStyle/>
                    <a:p>
                      <a:pPr>
                        <a:defRPr sz="1000">
                          <a:solidFill>
                            <a:srgbClr val="1E293B"/>
                          </a:solidFill>
                        </a:defRPr>
                      </a:pPr>
                      <a:r>
                        <a:t>3.9654 m</a:t>
                      </a:r>
                    </a:p>
                  </a:txBody>
                  <a:tcPr>
                    <a:solidFill>
                      <a:srgbClr val="F1F5F9"/>
                    </a:solidFill>
                  </a:tcPr>
                </a:tc>
                <a:tc>
                  <a:txBody>
                    <a:bodyPr/>
                    <a:lstStyle/>
                    <a:p>
                      <a:pPr>
                        <a:defRPr sz="1000">
                          <a:solidFill>
                            <a:srgbClr val="1E293B"/>
                          </a:solidFill>
                        </a:defRPr>
                      </a:pPr>
                      <a:r>
                        <a:t>86.40 cm</a:t>
                      </a:r>
                    </a:p>
                  </a:txBody>
                  <a:tcPr>
                    <a:solidFill>
                      <a:srgbClr val="F1F5F9"/>
                    </a:solidFill>
                  </a:tcPr>
                </a:tc>
                <a:tc>
                  <a:txBody>
                    <a:bodyPr/>
                    <a:lstStyle/>
                    <a:p>
                      <a:pPr>
                        <a:defRPr sz="1000">
                          <a:solidFill>
                            <a:srgbClr val="1E293B"/>
                          </a:solidFill>
                        </a:defRPr>
                      </a:pPr>
                      <a:r>
                        <a:t>⚠️ 走廊段严重纵向滑移</a:t>
                      </a:r>
                    </a:p>
                  </a:txBody>
                  <a:tcPr>
                    <a:solidFill>
                      <a:srgbClr val="F1F5F9"/>
                    </a:solidFill>
                  </a:tcPr>
                </a:tc>
              </a:tr>
              <a:tr h="411480">
                <a:tc>
                  <a:txBody>
                    <a:bodyPr/>
                    <a:lstStyle/>
                    <a:p>
                      <a:pPr>
                        <a:defRPr sz="1000" b="1">
                          <a:solidFill>
                            <a:srgbClr val="0F1E41"/>
                          </a:solidFill>
                        </a:defRPr>
                      </a:pPr>
                      <a:r>
                        <a:t>本文自适应融合 (Ours)</a:t>
                      </a:r>
                    </a:p>
                  </a:txBody>
                  <a:tcPr>
                    <a:solidFill>
                      <a:srgbClr val="ECFDF5"/>
                    </a:solidFill>
                  </a:tcPr>
                </a:tc>
                <a:tc>
                  <a:txBody>
                    <a:bodyPr/>
                    <a:lstStyle/>
                    <a:p>
                      <a:pPr>
                        <a:defRPr sz="1000" b="1">
                          <a:solidFill>
                            <a:srgbClr val="0F1E41"/>
                          </a:solidFill>
                        </a:defRPr>
                      </a:pPr>
                      <a:r>
                        <a:t>0.0219 m</a:t>
                      </a:r>
                    </a:p>
                  </a:txBody>
                  <a:tcPr>
                    <a:solidFill>
                      <a:srgbClr val="ECFDF5"/>
                    </a:solidFill>
                  </a:tcPr>
                </a:tc>
                <a:tc>
                  <a:txBody>
                    <a:bodyPr/>
                    <a:lstStyle/>
                    <a:p>
                      <a:pPr>
                        <a:defRPr sz="1000" b="1">
                          <a:solidFill>
                            <a:srgbClr val="0F1E41"/>
                          </a:solidFill>
                        </a:defRPr>
                      </a:pPr>
                      <a:r>
                        <a:t>0.0741 m</a:t>
                      </a:r>
                    </a:p>
                  </a:txBody>
                  <a:tcPr>
                    <a:solidFill>
                      <a:srgbClr val="ECFDF5"/>
                    </a:solidFill>
                  </a:tcPr>
                </a:tc>
                <a:tc>
                  <a:txBody>
                    <a:bodyPr/>
                    <a:lstStyle/>
                    <a:p>
                      <a:pPr>
                        <a:defRPr sz="1000" b="1">
                          <a:solidFill>
                            <a:srgbClr val="0D9488"/>
                          </a:solidFill>
                        </a:defRPr>
                      </a:pPr>
                      <a:r>
                        <a:t>2.14 cm</a:t>
                      </a:r>
                    </a:p>
                  </a:txBody>
                  <a:tcPr>
                    <a:solidFill>
                      <a:srgbClr val="ECFDF5"/>
                    </a:solidFill>
                  </a:tcPr>
                </a:tc>
                <a:tc>
                  <a:txBody>
                    <a:bodyPr/>
                    <a:lstStyle/>
                    <a:p>
                      <a:pPr>
                        <a:defRPr sz="1000" b="1">
                          <a:solidFill>
                            <a:srgbClr val="0D9488"/>
                          </a:solidFill>
                        </a:defRPr>
                      </a:pPr>
                      <a:r>
                        <a:t>✅ 远优于 &lt;10cm 指标</a:t>
                      </a:r>
                    </a:p>
                  </a:txBody>
                  <a:tcPr>
                    <a:solidFill>
                      <a:srgbClr val="ECFDF5"/>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E7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7472"/>
            <a:ext cx="8961120" cy="731520"/>
          </a:xfrm>
          <a:prstGeom prst="rect">
            <a:avLst/>
          </a:prstGeom>
          <a:noFill/>
        </p:spPr>
        <p:txBody>
          <a:bodyPr wrap="square" lIns="0" tIns="0" rIns="0" bIns="0">
            <a:spAutoFit/>
          </a:bodyPr>
          <a:lstStyle/>
          <a:p>
            <a:pPr>
              <a:defRPr sz="2100" b="1">
                <a:solidFill>
                  <a:srgbClr val="0F1E41"/>
                </a:solidFill>
                <a:latin typeface="Arial"/>
              </a:defRPr>
            </a:pPr>
            <a:r>
              <a:t>9. 动态避障消融实验与通行效率分析</a:t>
            </a:r>
          </a:p>
        </p:txBody>
      </p:sp>
      <p:sp>
        <p:nvSpPr>
          <p:cNvPr id="5" name="Rounded Rectangle 4"/>
          <p:cNvSpPr/>
          <p:nvPr/>
        </p:nvSpPr>
        <p:spPr>
          <a:xfrm>
            <a:off x="9326880" y="402336"/>
            <a:ext cx="2103120" cy="329184"/>
          </a:xfrm>
          <a:prstGeom prst="roundRect">
            <a:avLst/>
          </a:prstGeom>
          <a:solidFill>
            <a:srgbClr val="DBEAFE"/>
          </a:solidFill>
          <a:ln w="12700">
            <a:solidFill>
              <a:srgbClr val="0E7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D4ED8"/>
                </a:solidFill>
                <a:latin typeface="Arial"/>
              </a:defRPr>
            </a:pPr>
            <a:r>
              <a:t>Ablation Study</a:t>
            </a:r>
          </a:p>
        </p:txBody>
      </p:sp>
      <p:sp>
        <p:nvSpPr>
          <p:cNvPr id="6" name="TextBox 5"/>
          <p:cNvSpPr txBox="1"/>
          <p:nvPr/>
        </p:nvSpPr>
        <p:spPr>
          <a:xfrm>
            <a:off x="10515600" y="6400800"/>
            <a:ext cx="1097280" cy="320040"/>
          </a:xfrm>
          <a:prstGeom prst="rect">
            <a:avLst/>
          </a:prstGeom>
          <a:noFill/>
        </p:spPr>
        <p:txBody>
          <a:bodyPr wrap="none">
            <a:spAutoFit/>
          </a:bodyPr>
          <a:lstStyle/>
          <a:p>
            <a:pPr algn="r">
              <a:defRPr sz="1100">
                <a:solidFill>
                  <a:srgbClr val="64748B"/>
                </a:solidFill>
              </a:defRPr>
            </a:pPr>
            <a:r>
              <a:t>10 / 11</a:t>
            </a:r>
          </a:p>
        </p:txBody>
      </p:sp>
      <p:graphicFrame>
        <p:nvGraphicFramePr>
          <p:cNvPr id="7" name="Table 6"/>
          <p:cNvGraphicFramePr>
            <a:graphicFrameLocks noGrp="1"/>
          </p:cNvGraphicFramePr>
          <p:nvPr/>
        </p:nvGraphicFramePr>
        <p:xfrm>
          <a:off x="731520" y="1188720"/>
          <a:ext cx="10698480" cy="2103120"/>
        </p:xfrm>
        <a:graphic>
          <a:graphicData uri="http://schemas.openxmlformats.org/drawingml/2006/table">
            <a:tbl>
              <a:tblPr firstRow="1" bandRow="1">
                <a:tableStyleId>{5C22544A-7EE6-4342-B048-85BDC9FD1C3A}</a:tableStyleId>
              </a:tblPr>
              <a:tblGrid>
                <a:gridCol w="1783080"/>
                <a:gridCol w="1783080"/>
                <a:gridCol w="1783080"/>
                <a:gridCol w="1783080"/>
                <a:gridCol w="1783080"/>
                <a:gridCol w="1783080"/>
              </a:tblGrid>
              <a:tr h="525780">
                <a:tc>
                  <a:txBody>
                    <a:bodyPr/>
                    <a:lstStyle/>
                    <a:p>
                      <a:pPr>
                        <a:defRPr sz="1100" b="1">
                          <a:solidFill>
                            <a:srgbClr val="1D4ED8"/>
                          </a:solidFill>
                        </a:defRPr>
                      </a:pPr>
                      <a:r>
                        <a:t>行人横穿速度</a:t>
                      </a:r>
                    </a:p>
                  </a:txBody>
                  <a:tcPr>
                    <a:solidFill>
                      <a:srgbClr val="DBEAFE"/>
                    </a:solidFill>
                  </a:tcPr>
                </a:tc>
                <a:tc>
                  <a:txBody>
                    <a:bodyPr/>
                    <a:lstStyle/>
                    <a:p>
                      <a:pPr>
                        <a:defRPr sz="1100" b="1">
                          <a:solidFill>
                            <a:srgbClr val="1D4ED8"/>
                          </a:solidFill>
                        </a:defRPr>
                      </a:pPr>
                      <a:r>
                        <a:t>传统对称膨胀耗时</a:t>
                      </a:r>
                    </a:p>
                  </a:txBody>
                  <a:tcPr>
                    <a:solidFill>
                      <a:srgbClr val="DBEAFE"/>
                    </a:solidFill>
                  </a:tcPr>
                </a:tc>
                <a:tc>
                  <a:txBody>
                    <a:bodyPr/>
                    <a:lstStyle/>
                    <a:p>
                      <a:pPr>
                        <a:defRPr sz="1100" b="1">
                          <a:solidFill>
                            <a:srgbClr val="1D4ED8"/>
                          </a:solidFill>
                        </a:defRPr>
                      </a:pPr>
                      <a:r>
                        <a:t>本文非对称耗时</a:t>
                      </a:r>
                    </a:p>
                  </a:txBody>
                  <a:tcPr>
                    <a:solidFill>
                      <a:srgbClr val="DBEAFE"/>
                    </a:solidFill>
                  </a:tcPr>
                </a:tc>
                <a:tc>
                  <a:txBody>
                    <a:bodyPr/>
                    <a:lstStyle/>
                    <a:p>
                      <a:pPr>
                        <a:defRPr sz="1100" b="1">
                          <a:solidFill>
                            <a:srgbClr val="1D4ED8"/>
                          </a:solidFill>
                        </a:defRPr>
                      </a:pPr>
                      <a:r>
                        <a:t>通行效率提升</a:t>
                      </a:r>
                    </a:p>
                  </a:txBody>
                  <a:tcPr>
                    <a:solidFill>
                      <a:srgbClr val="DBEAFE"/>
                    </a:solidFill>
                  </a:tcPr>
                </a:tc>
                <a:tc>
                  <a:txBody>
                    <a:bodyPr/>
                    <a:lstStyle/>
                    <a:p>
                      <a:pPr>
                        <a:defRPr sz="1100" b="1">
                          <a:solidFill>
                            <a:srgbClr val="1D4ED8"/>
                          </a:solidFill>
                        </a:defRPr>
                      </a:pPr>
                      <a:r>
                        <a:t>重规划平均延迟</a:t>
                      </a:r>
                    </a:p>
                  </a:txBody>
                  <a:tcPr>
                    <a:solidFill>
                      <a:srgbClr val="DBEAFE"/>
                    </a:solidFill>
                  </a:tcPr>
                </a:tc>
                <a:tc>
                  <a:txBody>
                    <a:bodyPr/>
                    <a:lstStyle/>
                    <a:p>
                      <a:pPr>
                        <a:defRPr sz="1100" b="1">
                          <a:solidFill>
                            <a:srgbClr val="1D4ED8"/>
                          </a:solidFill>
                        </a:defRPr>
                      </a:pPr>
                      <a:r>
                        <a:t>最小安全边距</a:t>
                      </a:r>
                    </a:p>
                  </a:txBody>
                  <a:tcPr>
                    <a:solidFill>
                      <a:srgbClr val="DBEAFE"/>
                    </a:solidFill>
                  </a:tcPr>
                </a:tc>
              </a:tr>
              <a:tr h="525780">
                <a:tc>
                  <a:txBody>
                    <a:bodyPr/>
                    <a:lstStyle/>
                    <a:p>
                      <a:pPr>
                        <a:defRPr sz="1100">
                          <a:solidFill>
                            <a:srgbClr val="1E293B"/>
                          </a:solidFill>
                        </a:defRPr>
                      </a:pPr>
                      <a:r>
                        <a:t>0.2 m/s</a:t>
                      </a:r>
                    </a:p>
                  </a:txBody>
                  <a:tcPr>
                    <a:solidFill>
                      <a:srgbClr val="FFFFFF"/>
                    </a:solidFill>
                  </a:tcPr>
                </a:tc>
                <a:tc>
                  <a:txBody>
                    <a:bodyPr/>
                    <a:lstStyle/>
                    <a:p>
                      <a:pPr>
                        <a:defRPr sz="1100">
                          <a:solidFill>
                            <a:srgbClr val="1E293B"/>
                          </a:solidFill>
                        </a:defRPr>
                      </a:pPr>
                      <a:r>
                        <a:t>15.35 s</a:t>
                      </a:r>
                    </a:p>
                  </a:txBody>
                  <a:tcPr>
                    <a:solidFill>
                      <a:srgbClr val="FFFFFF"/>
                    </a:solidFill>
                  </a:tcPr>
                </a:tc>
                <a:tc>
                  <a:txBody>
                    <a:bodyPr/>
                    <a:lstStyle/>
                    <a:p>
                      <a:pPr>
                        <a:defRPr sz="1100">
                          <a:solidFill>
                            <a:srgbClr val="1E293B"/>
                          </a:solidFill>
                        </a:defRPr>
                      </a:pPr>
                      <a:r>
                        <a:t>11.18 s</a:t>
                      </a:r>
                    </a:p>
                  </a:txBody>
                  <a:tcPr>
                    <a:solidFill>
                      <a:srgbClr val="FFFFFF"/>
                    </a:solidFill>
                  </a:tcPr>
                </a:tc>
                <a:tc>
                  <a:txBody>
                    <a:bodyPr/>
                    <a:lstStyle/>
                    <a:p>
                      <a:pPr>
                        <a:defRPr sz="1100" b="1">
                          <a:solidFill>
                            <a:srgbClr val="0D9488"/>
                          </a:solidFill>
                        </a:defRPr>
                      </a:pPr>
                      <a:r>
                        <a:t>+27.2%</a:t>
                      </a:r>
                    </a:p>
                  </a:txBody>
                  <a:tcPr>
                    <a:solidFill>
                      <a:srgbClr val="FFFFFF"/>
                    </a:solidFill>
                  </a:tcPr>
                </a:tc>
                <a:tc>
                  <a:txBody>
                    <a:bodyPr/>
                    <a:lstStyle/>
                    <a:p>
                      <a:pPr>
                        <a:defRPr sz="1100">
                          <a:solidFill>
                            <a:srgbClr val="1E293B"/>
                          </a:solidFill>
                        </a:defRPr>
                      </a:pPr>
                      <a:r>
                        <a:t>18.44 ms</a:t>
                      </a:r>
                    </a:p>
                  </a:txBody>
                  <a:tcPr>
                    <a:solidFill>
                      <a:srgbClr val="FFFFFF"/>
                    </a:solidFill>
                  </a:tcPr>
                </a:tc>
                <a:tc>
                  <a:txBody>
                    <a:bodyPr/>
                    <a:lstStyle/>
                    <a:p>
                      <a:pPr>
                        <a:defRPr sz="1100">
                          <a:solidFill>
                            <a:srgbClr val="1E293B"/>
                          </a:solidFill>
                        </a:defRPr>
                      </a:pPr>
                      <a:r>
                        <a:t>0.43 m</a:t>
                      </a:r>
                    </a:p>
                  </a:txBody>
                  <a:tcPr>
                    <a:solidFill>
                      <a:srgbClr val="FFFFFF"/>
                    </a:solidFill>
                  </a:tcPr>
                </a:tc>
              </a:tr>
              <a:tr h="525780">
                <a:tc>
                  <a:txBody>
                    <a:bodyPr/>
                    <a:lstStyle/>
                    <a:p>
                      <a:pPr>
                        <a:defRPr sz="1100">
                          <a:solidFill>
                            <a:srgbClr val="1E293B"/>
                          </a:solidFill>
                        </a:defRPr>
                      </a:pPr>
                      <a:r>
                        <a:t>0.6 m/s</a:t>
                      </a:r>
                    </a:p>
                  </a:txBody>
                  <a:tcPr>
                    <a:solidFill>
                      <a:srgbClr val="F1F5F9"/>
                    </a:solidFill>
                  </a:tcPr>
                </a:tc>
                <a:tc>
                  <a:txBody>
                    <a:bodyPr/>
                    <a:lstStyle/>
                    <a:p>
                      <a:pPr>
                        <a:defRPr sz="1100">
                          <a:solidFill>
                            <a:srgbClr val="1E293B"/>
                          </a:solidFill>
                        </a:defRPr>
                      </a:pPr>
                      <a:r>
                        <a:t>17.21 s</a:t>
                      </a:r>
                    </a:p>
                  </a:txBody>
                  <a:tcPr>
                    <a:solidFill>
                      <a:srgbClr val="F1F5F9"/>
                    </a:solidFill>
                  </a:tcPr>
                </a:tc>
                <a:tc>
                  <a:txBody>
                    <a:bodyPr/>
                    <a:lstStyle/>
                    <a:p>
                      <a:pPr>
                        <a:defRPr sz="1100">
                          <a:solidFill>
                            <a:srgbClr val="1E293B"/>
                          </a:solidFill>
                        </a:defRPr>
                      </a:pPr>
                      <a:r>
                        <a:t>11.43 s</a:t>
                      </a:r>
                    </a:p>
                  </a:txBody>
                  <a:tcPr>
                    <a:solidFill>
                      <a:srgbClr val="F1F5F9"/>
                    </a:solidFill>
                  </a:tcPr>
                </a:tc>
                <a:tc>
                  <a:txBody>
                    <a:bodyPr/>
                    <a:lstStyle/>
                    <a:p>
                      <a:pPr>
                        <a:defRPr sz="1100" b="1">
                          <a:solidFill>
                            <a:srgbClr val="0D9488"/>
                          </a:solidFill>
                        </a:defRPr>
                      </a:pPr>
                      <a:r>
                        <a:t>+33.6%</a:t>
                      </a:r>
                    </a:p>
                  </a:txBody>
                  <a:tcPr>
                    <a:solidFill>
                      <a:srgbClr val="F1F5F9"/>
                    </a:solidFill>
                  </a:tcPr>
                </a:tc>
                <a:tc>
                  <a:txBody>
                    <a:bodyPr/>
                    <a:lstStyle/>
                    <a:p>
                      <a:pPr>
                        <a:defRPr sz="1100">
                          <a:solidFill>
                            <a:srgbClr val="1E293B"/>
                          </a:solidFill>
                        </a:defRPr>
                      </a:pPr>
                      <a:r>
                        <a:t>19.47 ms</a:t>
                      </a:r>
                    </a:p>
                  </a:txBody>
                  <a:tcPr>
                    <a:solidFill>
                      <a:srgbClr val="F1F5F9"/>
                    </a:solidFill>
                  </a:tcPr>
                </a:tc>
                <a:tc>
                  <a:txBody>
                    <a:bodyPr/>
                    <a:lstStyle/>
                    <a:p>
                      <a:pPr>
                        <a:defRPr sz="1100">
                          <a:solidFill>
                            <a:srgbClr val="1E293B"/>
                          </a:solidFill>
                        </a:defRPr>
                      </a:pPr>
                      <a:r>
                        <a:t>0.45 m</a:t>
                      </a:r>
                    </a:p>
                  </a:txBody>
                  <a:tcPr>
                    <a:solidFill>
                      <a:srgbClr val="F1F5F9"/>
                    </a:solidFill>
                  </a:tcPr>
                </a:tc>
              </a:tr>
              <a:tr h="525780">
                <a:tc>
                  <a:txBody>
                    <a:bodyPr/>
                    <a:lstStyle/>
                    <a:p>
                      <a:pPr>
                        <a:defRPr sz="1100">
                          <a:solidFill>
                            <a:srgbClr val="1E293B"/>
                          </a:solidFill>
                        </a:defRPr>
                      </a:pPr>
                      <a:r>
                        <a:t>1.0 m/s</a:t>
                      </a:r>
                    </a:p>
                  </a:txBody>
                  <a:tcPr>
                    <a:solidFill>
                      <a:srgbClr val="FFFFFF"/>
                    </a:solidFill>
                  </a:tcPr>
                </a:tc>
                <a:tc>
                  <a:txBody>
                    <a:bodyPr/>
                    <a:lstStyle/>
                    <a:p>
                      <a:pPr>
                        <a:defRPr sz="1100">
                          <a:solidFill>
                            <a:srgbClr val="1E293B"/>
                          </a:solidFill>
                        </a:defRPr>
                      </a:pPr>
                      <a:r>
                        <a:t>18.55 s</a:t>
                      </a:r>
                    </a:p>
                  </a:txBody>
                  <a:tcPr>
                    <a:solidFill>
                      <a:srgbClr val="FFFFFF"/>
                    </a:solidFill>
                  </a:tcPr>
                </a:tc>
                <a:tc>
                  <a:txBody>
                    <a:bodyPr/>
                    <a:lstStyle/>
                    <a:p>
                      <a:pPr>
                        <a:defRPr sz="1100">
                          <a:solidFill>
                            <a:srgbClr val="1E293B"/>
                          </a:solidFill>
                        </a:defRPr>
                      </a:pPr>
                      <a:r>
                        <a:t>11.82 s</a:t>
                      </a:r>
                    </a:p>
                  </a:txBody>
                  <a:tcPr>
                    <a:solidFill>
                      <a:srgbClr val="FFFFFF"/>
                    </a:solidFill>
                  </a:tcPr>
                </a:tc>
                <a:tc>
                  <a:txBody>
                    <a:bodyPr/>
                    <a:lstStyle/>
                    <a:p>
                      <a:pPr>
                        <a:defRPr sz="1100" b="1">
                          <a:solidFill>
                            <a:srgbClr val="0D9488"/>
                          </a:solidFill>
                        </a:defRPr>
                      </a:pPr>
                      <a:r>
                        <a:t>+36.3%</a:t>
                      </a:r>
                    </a:p>
                  </a:txBody>
                  <a:tcPr>
                    <a:solidFill>
                      <a:srgbClr val="FFFFFF"/>
                    </a:solidFill>
                  </a:tcPr>
                </a:tc>
                <a:tc>
                  <a:txBody>
                    <a:bodyPr/>
                    <a:lstStyle/>
                    <a:p>
                      <a:pPr>
                        <a:defRPr sz="1100">
                          <a:solidFill>
                            <a:srgbClr val="1E293B"/>
                          </a:solidFill>
                        </a:defRPr>
                      </a:pPr>
                      <a:r>
                        <a:t>19.76 ms</a:t>
                      </a:r>
                    </a:p>
                  </a:txBody>
                  <a:tcPr>
                    <a:solidFill>
                      <a:srgbClr val="FFFFFF"/>
                    </a:solidFill>
                  </a:tcPr>
                </a:tc>
                <a:tc>
                  <a:txBody>
                    <a:bodyPr/>
                    <a:lstStyle/>
                    <a:p>
                      <a:pPr>
                        <a:defRPr sz="1100">
                          <a:solidFill>
                            <a:srgbClr val="1E293B"/>
                          </a:solidFill>
                        </a:defRPr>
                      </a:pPr>
                      <a:r>
                        <a:t>0.44 m</a:t>
                      </a:r>
                    </a:p>
                  </a:txBody>
                  <a:tcPr>
                    <a:solidFill>
                      <a:srgbClr val="FFFFFF"/>
                    </a:solidFill>
                  </a:tcPr>
                </a:tc>
              </a:tr>
            </a:tbl>
          </a:graphicData>
        </a:graphic>
      </p:graphicFrame>
      <p:sp>
        <p:nvSpPr>
          <p:cNvPr id="8" name="Rounded Rectangle 7"/>
          <p:cNvSpPr/>
          <p:nvPr/>
        </p:nvSpPr>
        <p:spPr>
          <a:xfrm>
            <a:off x="731520" y="3566160"/>
            <a:ext cx="10698480" cy="2560320"/>
          </a:xfrm>
          <a:prstGeom prst="roundRect">
            <a:avLst/>
          </a:prstGeom>
          <a:solidFill>
            <a:srgbClr val="E6F1FE"/>
          </a:solidFill>
          <a:ln w="12700">
            <a:solidFill>
              <a:srgbClr val="0E7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3712463"/>
            <a:ext cx="10296144" cy="2267712"/>
          </a:xfrm>
          <a:prstGeom prst="rect">
            <a:avLst/>
          </a:prstGeom>
          <a:noFill/>
        </p:spPr>
        <p:txBody>
          <a:bodyPr wrap="square" lIns="0" tIns="0" rIns="0" bIns="0">
            <a:spAutoFit/>
          </a:bodyPr>
          <a:lstStyle/>
          <a:p>
            <a:pPr>
              <a:spcAft>
                <a:spcPts val="700"/>
              </a:spcAft>
              <a:defRPr sz="1300" b="1">
                <a:solidFill>
                  <a:srgbClr val="1D4ED8"/>
                </a:solidFill>
                <a:latin typeface="Arial"/>
              </a:defRPr>
            </a:pPr>
            <a:r>
              <a:t>📊 消融实验核心结论</a:t>
            </a:r>
          </a:p>
          <a:p>
            <a:pPr>
              <a:spcAft>
                <a:spcPts val="400"/>
              </a:spcAft>
              <a:defRPr sz="1100">
                <a:solidFill>
                  <a:srgbClr val="1E293B"/>
                </a:solidFill>
                <a:latin typeface="Arial"/>
              </a:defRPr>
            </a:pPr>
            <a:r>
              <a:t>1. 通行耗时降低 36.3%：非对称速度矢量椭圆释放了行人后方通行区域，机器人无需盲目等待行人完全走过即可贴身变道穿行。</a:t>
            </a:r>
          </a:p>
          <a:p>
            <a:pPr>
              <a:spcAft>
                <a:spcPts val="400"/>
              </a:spcAft>
              <a:defRPr sz="1100">
                <a:solidFill>
                  <a:srgbClr val="1E293B"/>
                </a:solidFill>
                <a:latin typeface="Arial"/>
              </a:defRPr>
            </a:pPr>
            <a:r>
              <a:t>2. 安全裕度恒定充裕 (&gt;0.43m)：迎风扩张椭圆包络确保机器人在面对迎面行走人员时提前减速或微调避让，零碰撞发生。</a:t>
            </a:r>
          </a:p>
          <a:p>
            <a:pPr>
              <a:spcAft>
                <a:spcPts val="400"/>
              </a:spcAft>
              <a:defRPr sz="1100">
                <a:solidFill>
                  <a:srgbClr val="1E293B"/>
                </a:solidFill>
                <a:latin typeface="Arial"/>
              </a:defRPr>
            </a:pPr>
            <a:r>
              <a:t>3. 重规划超低延迟 (&lt;20ms)：推导了解析梯度，配合 A* 静态节点池优化，状态机触发重选径响应时间仅 18.25 ms，实现连续不停顿巡航。</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E7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7472"/>
            <a:ext cx="8961120" cy="731520"/>
          </a:xfrm>
          <a:prstGeom prst="rect">
            <a:avLst/>
          </a:prstGeom>
          <a:noFill/>
        </p:spPr>
        <p:txBody>
          <a:bodyPr wrap="square" lIns="0" tIns="0" rIns="0" bIns="0">
            <a:spAutoFit/>
          </a:bodyPr>
          <a:lstStyle/>
          <a:p>
            <a:pPr>
              <a:defRPr sz="2100" b="1">
                <a:solidFill>
                  <a:srgbClr val="0F1E41"/>
                </a:solidFill>
                <a:latin typeface="Arial"/>
              </a:defRPr>
            </a:pPr>
            <a:r>
              <a:t>10. 总结、学术贡献与开源生态交付</a:t>
            </a:r>
          </a:p>
        </p:txBody>
      </p:sp>
      <p:sp>
        <p:nvSpPr>
          <p:cNvPr id="5" name="Rounded Rectangle 4"/>
          <p:cNvSpPr/>
          <p:nvPr/>
        </p:nvSpPr>
        <p:spPr>
          <a:xfrm>
            <a:off x="9326880" y="402336"/>
            <a:ext cx="2103120" cy="329184"/>
          </a:xfrm>
          <a:prstGeom prst="roundRect">
            <a:avLst/>
          </a:prstGeom>
          <a:solidFill>
            <a:srgbClr val="DBEAFE"/>
          </a:solidFill>
          <a:ln w="12700">
            <a:solidFill>
              <a:srgbClr val="0E7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D4ED8"/>
                </a:solidFill>
                <a:latin typeface="Arial"/>
              </a:defRPr>
            </a:pPr>
            <a:r>
              <a:t>Conclusion &amp; Delivery</a:t>
            </a:r>
          </a:p>
        </p:txBody>
      </p:sp>
      <p:sp>
        <p:nvSpPr>
          <p:cNvPr id="6" name="TextBox 5"/>
          <p:cNvSpPr txBox="1"/>
          <p:nvPr/>
        </p:nvSpPr>
        <p:spPr>
          <a:xfrm>
            <a:off x="10515600" y="6400800"/>
            <a:ext cx="1097280" cy="320040"/>
          </a:xfrm>
          <a:prstGeom prst="rect">
            <a:avLst/>
          </a:prstGeom>
          <a:noFill/>
        </p:spPr>
        <p:txBody>
          <a:bodyPr wrap="none">
            <a:spAutoFit/>
          </a:bodyPr>
          <a:lstStyle/>
          <a:p>
            <a:pPr algn="r">
              <a:defRPr sz="1100">
                <a:solidFill>
                  <a:srgbClr val="64748B"/>
                </a:solidFill>
              </a:defRPr>
            </a:pPr>
            <a:r>
              <a:t>11 / 11</a:t>
            </a:r>
          </a:p>
        </p:txBody>
      </p:sp>
      <p:sp>
        <p:nvSpPr>
          <p:cNvPr id="7" name="Rounded Rectangle 6"/>
          <p:cNvSpPr/>
          <p:nvPr/>
        </p:nvSpPr>
        <p:spPr>
          <a:xfrm>
            <a:off x="731520" y="1143000"/>
            <a:ext cx="5212080" cy="365760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289304"/>
            <a:ext cx="4809744" cy="3364992"/>
          </a:xfrm>
          <a:prstGeom prst="rect">
            <a:avLst/>
          </a:prstGeom>
          <a:noFill/>
        </p:spPr>
        <p:txBody>
          <a:bodyPr wrap="square" lIns="0" tIns="0" rIns="0" bIns="0">
            <a:spAutoFit/>
          </a:bodyPr>
          <a:lstStyle/>
          <a:p>
            <a:pPr>
              <a:spcAft>
                <a:spcPts val="700"/>
              </a:spcAft>
              <a:defRPr sz="1300" b="1">
                <a:solidFill>
                  <a:srgbClr val="1D4ED8"/>
                </a:solidFill>
                <a:latin typeface="Arial"/>
              </a:defRPr>
            </a:pPr>
            <a:r>
              <a:t>学术贡献总结 (Contributions)</a:t>
            </a:r>
          </a:p>
          <a:p>
            <a:pPr>
              <a:spcAft>
                <a:spcPts val="400"/>
              </a:spcAft>
              <a:defRPr sz="1100">
                <a:solidFill>
                  <a:srgbClr val="1E293B"/>
                </a:solidFill>
                <a:latin typeface="Arial"/>
              </a:defRPr>
            </a:pPr>
            <a:r>
              <a:t>• 理论贡献：</a:t>
            </a:r>
          </a:p>
          <a:p>
            <a:pPr>
              <a:spcAft>
                <a:spcPts val="400"/>
              </a:spcAft>
              <a:defRPr sz="1100">
                <a:solidFill>
                  <a:srgbClr val="1E293B"/>
                </a:solidFill>
                <a:latin typeface="Arial"/>
              </a:defRPr>
            </a:pPr>
            <a:r>
              <a:t>  建立基于雅可比信息矩阵特征值分解的自适应因子图重调权机制，彻底攻克长直走廊特征退化瓶颈。</a:t>
            </a:r>
          </a:p>
          <a:p>
            <a:pPr>
              <a:spcAft>
                <a:spcPts val="400"/>
              </a:spcAft>
              <a:defRPr sz="1100">
                <a:solidFill>
                  <a:srgbClr val="1E293B"/>
                </a:solidFill>
                <a:latin typeface="Arial"/>
              </a:defRPr>
            </a:pPr>
            <a:r>
              <a:t>• 算法贡献：</a:t>
            </a:r>
          </a:p>
          <a:p>
            <a:pPr>
              <a:spcAft>
                <a:spcPts val="400"/>
              </a:spcAft>
              <a:defRPr sz="1100">
                <a:solidFill>
                  <a:srgbClr val="1E293B"/>
                </a:solidFill>
                <a:latin typeface="Arial"/>
              </a:defRPr>
            </a:pPr>
            <a:r>
              <a:t>  提出跨域语义投影与 Depth-PROSAC 算法，实现 97.95% 动态拖影滤除与 99.4% 结构保留；构建非对称速度椭圆与 A*-TEB 双闭环重规划。</a:t>
            </a:r>
          </a:p>
          <a:p>
            <a:pPr>
              <a:spcAft>
                <a:spcPts val="400"/>
              </a:spcAft>
              <a:defRPr sz="1100">
                <a:solidFill>
                  <a:srgbClr val="1E293B"/>
                </a:solidFill>
                <a:latin typeface="Arial"/>
              </a:defRPr>
            </a:pPr>
            <a:r>
              <a:t>• 工程贡献：</a:t>
            </a:r>
          </a:p>
          <a:p>
            <a:pPr>
              <a:spcAft>
                <a:spcPts val="400"/>
              </a:spcAft>
              <a:defRPr sz="1100">
                <a:solidFill>
                  <a:srgbClr val="1E293B"/>
                </a:solidFill>
                <a:latin typeface="Arial"/>
              </a:defRPr>
            </a:pPr>
            <a:r>
              <a:t>  研制真实数字孪生实验环境与全地形工业 AMR 机器人模型，24 项单元测试全覆盖，实测 100m 漂移仅 2.14 cm。</a:t>
            </a:r>
          </a:p>
        </p:txBody>
      </p:sp>
      <p:sp>
        <p:nvSpPr>
          <p:cNvPr id="9" name="Rounded Rectangle 8"/>
          <p:cNvSpPr/>
          <p:nvPr/>
        </p:nvSpPr>
        <p:spPr>
          <a:xfrm>
            <a:off x="6217920" y="1143000"/>
            <a:ext cx="5212080" cy="365760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1289304"/>
            <a:ext cx="4809744" cy="3364992"/>
          </a:xfrm>
          <a:prstGeom prst="rect">
            <a:avLst/>
          </a:prstGeom>
          <a:noFill/>
        </p:spPr>
        <p:txBody>
          <a:bodyPr wrap="square" lIns="0" tIns="0" rIns="0" bIns="0">
            <a:spAutoFit/>
          </a:bodyPr>
          <a:lstStyle/>
          <a:p>
            <a:pPr>
              <a:spcAft>
                <a:spcPts val="700"/>
              </a:spcAft>
              <a:defRPr sz="1300" b="1">
                <a:solidFill>
                  <a:srgbClr val="1D4ED8"/>
                </a:solidFill>
                <a:latin typeface="Arial"/>
              </a:defRPr>
            </a:pPr>
            <a:r>
              <a:t>完整开源套件交付 (Open-Source Deliverables)</a:t>
            </a:r>
          </a:p>
          <a:p>
            <a:pPr>
              <a:spcAft>
                <a:spcPts val="400"/>
              </a:spcAft>
              <a:defRPr sz="1100">
                <a:solidFill>
                  <a:srgbClr val="1E293B"/>
                </a:solidFill>
                <a:latin typeface="Arial"/>
              </a:defRPr>
            </a:pPr>
            <a:r>
              <a:t>• 📄 完整学术论文交付套件：</a:t>
            </a:r>
          </a:p>
          <a:p>
            <a:pPr>
              <a:spcAft>
                <a:spcPts val="400"/>
              </a:spcAft>
              <a:defRPr sz="1100">
                <a:solidFill>
                  <a:srgbClr val="1E293B"/>
                </a:solidFill>
                <a:latin typeface="Arial"/>
              </a:defRPr>
            </a:pPr>
            <a:r>
              <a:t>  IEEE Transactions 格式 LaTeX 排版源码 (paper/paper.tex &amp; paper.pdf) 与 Markdown (PAPER.md)。</a:t>
            </a:r>
          </a:p>
          <a:p>
            <a:pPr>
              <a:spcAft>
                <a:spcPts val="400"/>
              </a:spcAft>
              <a:defRPr sz="1100">
                <a:solidFill>
                  <a:srgbClr val="1E293B"/>
                </a:solidFill>
                <a:latin typeface="Arial"/>
              </a:defRPr>
            </a:pPr>
            <a:r>
              <a:t>• 💻 核心 ROS 2 软件包：</a:t>
            </a:r>
          </a:p>
          <a:p>
            <a:pPr>
              <a:spcAft>
                <a:spcPts val="400"/>
              </a:spcAft>
              <a:defRPr sz="1100">
                <a:solidFill>
                  <a:srgbClr val="1E293B"/>
                </a:solidFill>
                <a:latin typeface="Arial"/>
              </a:defRPr>
            </a:pPr>
            <a:r>
              <a:t>  smartcar_slam（融合定位与语义规划）与 smartcar_teleop（控制与巡航测试），24 项单元测试 100% 通过。</a:t>
            </a:r>
          </a:p>
          <a:p>
            <a:pPr>
              <a:spcAft>
                <a:spcPts val="400"/>
              </a:spcAft>
              <a:defRPr sz="1100">
                <a:solidFill>
                  <a:srgbClr val="1E293B"/>
                </a:solidFill>
                <a:latin typeface="Arial"/>
              </a:defRPr>
            </a:pPr>
            <a:r>
              <a:t>• 🌐 高保真数字孪生世界与机器人模型：</a:t>
            </a:r>
          </a:p>
          <a:p>
            <a:pPr>
              <a:spcAft>
                <a:spcPts val="400"/>
              </a:spcAft>
              <a:defRPr sz="1100">
                <a:solidFill>
                  <a:srgbClr val="1E293B"/>
                </a:solidFill>
                <a:latin typeface="Arial"/>
              </a:defRPr>
            </a:pPr>
            <a:r>
              <a:t>  Ignition Gazebo Fortress 真实实验室场景与 AMR 模型。</a:t>
            </a:r>
          </a:p>
          <a:p>
            <a:pPr>
              <a:spcAft>
                <a:spcPts val="400"/>
              </a:spcAft>
              <a:defRPr sz="1100">
                <a:solidFill>
                  <a:srgbClr val="1E293B"/>
                </a:solidFill>
                <a:latin typeface="Arial"/>
              </a:defRPr>
            </a:pPr>
            <a:r>
              <a:t>• 📹 60 秒高清实测演示录像：</a:t>
            </a:r>
          </a:p>
          <a:p>
            <a:pPr>
              <a:spcAft>
                <a:spcPts val="400"/>
              </a:spcAft>
              <a:defRPr sz="1100">
                <a:solidFill>
                  <a:srgbClr val="1E293B"/>
                </a:solidFill>
                <a:latin typeface="Arial"/>
              </a:defRPr>
            </a:pPr>
            <a:r>
              <a:t>  世界全局全景视角实测高清视频 (simulation_60s.mp4)。</a:t>
            </a:r>
          </a:p>
        </p:txBody>
      </p:sp>
      <p:sp>
        <p:nvSpPr>
          <p:cNvPr id="11" name="TextBox 10"/>
          <p:cNvSpPr txBox="1"/>
          <p:nvPr/>
        </p:nvSpPr>
        <p:spPr>
          <a:xfrm>
            <a:off x="731520" y="5074920"/>
            <a:ext cx="10698480" cy="1097280"/>
          </a:xfrm>
          <a:prstGeom prst="rect">
            <a:avLst/>
          </a:prstGeom>
          <a:noFill/>
        </p:spPr>
        <p:txBody>
          <a:bodyPr wrap="none">
            <a:spAutoFit/>
          </a:bodyPr>
          <a:lstStyle/>
          <a:p>
            <a:pPr algn="ctr">
              <a:defRPr sz="2200" b="1">
                <a:solidFill>
                  <a:srgbClr val="1D4ED8"/>
                </a:solidFill>
              </a:defRPr>
            </a:pPr>
            <a:r>
              <a:t>感谢各位专家评委与学者批评指正！</a:t>
            </a:r>
          </a:p>
          <a:p>
            <a:pPr algn="ctr">
              <a:defRPr sz="1400">
                <a:solidFill>
                  <a:srgbClr val="64748B"/>
                </a:solidFill>
              </a:defRPr>
            </a:pPr>
            <a:r>
              <a:t>Q &amp; A 答辩环节</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